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22" r:id="rId2"/>
    <p:sldId id="2134805794" r:id="rId3"/>
    <p:sldId id="2134805809" r:id="rId4"/>
    <p:sldId id="2134805810" r:id="rId5"/>
    <p:sldId id="2134805813" r:id="rId6"/>
    <p:sldId id="2134805811" r:id="rId7"/>
    <p:sldId id="2134805814" r:id="rId8"/>
    <p:sldId id="2134805812" r:id="rId9"/>
    <p:sldId id="2134805816" r:id="rId10"/>
    <p:sldId id="324" r:id="rId11"/>
    <p:sldId id="2134805817" r:id="rId12"/>
    <p:sldId id="2134805819" r:id="rId13"/>
    <p:sldId id="2134805827" r:id="rId14"/>
    <p:sldId id="2134805821" r:id="rId15"/>
    <p:sldId id="2134805818" r:id="rId16"/>
    <p:sldId id="2134805822" r:id="rId17"/>
    <p:sldId id="2134805823" r:id="rId18"/>
    <p:sldId id="2134805824" r:id="rId19"/>
    <p:sldId id="2134805829" r:id="rId20"/>
    <p:sldId id="2134805825" r:id="rId21"/>
    <p:sldId id="2134805826" r:id="rId22"/>
    <p:sldId id="2134805830" r:id="rId23"/>
    <p:sldId id="2134805833" r:id="rId24"/>
    <p:sldId id="2134805820" r:id="rId25"/>
    <p:sldId id="2134805831" r:id="rId26"/>
    <p:sldId id="2134805828" r:id="rId27"/>
    <p:sldId id="2134805832" r:id="rId28"/>
    <p:sldId id="2134805834" r:id="rId29"/>
    <p:sldId id="2134805802" r:id="rId30"/>
    <p:sldId id="2134805782" r:id="rId31"/>
    <p:sldId id="2134805796" r:id="rId32"/>
    <p:sldId id="325" r:id="rId33"/>
    <p:sldId id="326" r:id="rId34"/>
    <p:sldId id="327" r:id="rId35"/>
    <p:sldId id="2134805798" r:id="rId36"/>
    <p:sldId id="2134805797" r:id="rId37"/>
    <p:sldId id="2134805804" r:id="rId38"/>
    <p:sldId id="2134805835" r:id="rId39"/>
    <p:sldId id="2134805806" r:id="rId40"/>
    <p:sldId id="2134805808" r:id="rId41"/>
    <p:sldId id="288" r:id="rId4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IST 2019_Multiple Slide types" id="{58BEDF31-0425-40C4-87B2-EBC1798A92EE}">
          <p14:sldIdLst>
            <p14:sldId id="322"/>
            <p14:sldId id="2134805794"/>
            <p14:sldId id="2134805809"/>
            <p14:sldId id="2134805810"/>
            <p14:sldId id="2134805813"/>
            <p14:sldId id="2134805811"/>
            <p14:sldId id="2134805814"/>
            <p14:sldId id="2134805812"/>
            <p14:sldId id="2134805816"/>
            <p14:sldId id="324"/>
            <p14:sldId id="2134805817"/>
            <p14:sldId id="2134805819"/>
            <p14:sldId id="2134805827"/>
            <p14:sldId id="2134805821"/>
            <p14:sldId id="2134805818"/>
            <p14:sldId id="2134805822"/>
            <p14:sldId id="2134805823"/>
            <p14:sldId id="2134805824"/>
            <p14:sldId id="2134805829"/>
            <p14:sldId id="2134805825"/>
            <p14:sldId id="2134805826"/>
            <p14:sldId id="2134805830"/>
            <p14:sldId id="2134805833"/>
            <p14:sldId id="2134805820"/>
            <p14:sldId id="2134805831"/>
            <p14:sldId id="2134805828"/>
            <p14:sldId id="2134805832"/>
            <p14:sldId id="2134805834"/>
            <p14:sldId id="2134805802"/>
            <p14:sldId id="2134805782"/>
            <p14:sldId id="2134805796"/>
            <p14:sldId id="325"/>
            <p14:sldId id="326"/>
            <p14:sldId id="327"/>
            <p14:sldId id="2134805798"/>
            <p14:sldId id="2134805797"/>
            <p14:sldId id="2134805804"/>
            <p14:sldId id="2134805835"/>
            <p14:sldId id="2134805806"/>
            <p14:sldId id="2134805808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éronique VACHE" initials="VV" lastIdx="15" clrIdx="0">
    <p:extLst>
      <p:ext uri="{19B8F6BF-5375-455C-9EA6-DF929625EA0E}">
        <p15:presenceInfo xmlns:p15="http://schemas.microsoft.com/office/powerpoint/2012/main" userId="S::veronique.vache@list.lu::212756bf-2003-4960-a8f9-2712b4ed133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7992"/>
    <a:srgbClr val="CEC9B5"/>
    <a:srgbClr val="69685B"/>
    <a:srgbClr val="FE12ED"/>
    <a:srgbClr val="66AF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648" y="509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89EDB-3FDD-4915-A3CE-62FA29C01A3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042649-1860-4D03-9360-22C2D8836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61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499FB-0CC7-453D-9493-CBDCD6D233E2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6A24B-926E-40EB-9E1B-5321DC377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94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7475" indent="-117475" algn="l" defTabSz="914400" rtl="0" eaLnBrk="1" latinLnBrk="0" hangingPunct="1">
      <a:lnSpc>
        <a:spcPct val="110000"/>
      </a:lnSpc>
      <a:buFont typeface="Arial" panose="020B0604020202020204" pitchFamily="34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228600" indent="-111125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46075" indent="-117475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57200" indent="-111125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457200" indent="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938FE-DD0D-4930-620C-B62AA7302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2FDF75-078B-A9BE-4671-6999C3B99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2E97EF-412E-1631-0E10-1AC939BE2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GB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F78F2-48BE-408B-4ADB-BC808618ED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13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776" y="546498"/>
            <a:ext cx="8432255" cy="1241080"/>
          </a:xfrm>
        </p:spPr>
        <p:txBody>
          <a:bodyPr anchor="ctr"/>
          <a:lstStyle>
            <a:lvl1pPr>
              <a:defRPr sz="5500" b="0" i="0">
                <a:solidFill>
                  <a:schemeClr val="tx2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58776" y="2166937"/>
            <a:ext cx="8432189" cy="2268203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21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None/>
              <a:tabLst/>
              <a:defRPr sz="1500" b="1">
                <a:solidFill>
                  <a:schemeClr val="tx2">
                    <a:lumMod val="75000"/>
                  </a:schemeClr>
                </a:solidFill>
                <a:latin typeface="+mj-lt"/>
              </a:defRPr>
            </a:lvl2pPr>
            <a:lvl3pPr marL="357188" indent="-179388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tabLst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3pPr>
            <a:lvl4pPr marL="536575" indent="-179388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tabLst/>
              <a:defRPr sz="1200">
                <a:solidFill>
                  <a:schemeClr val="tx2"/>
                </a:solidFill>
                <a:latin typeface="+mj-lt"/>
              </a:defRPr>
            </a:lvl4pPr>
            <a:lvl5pPr marL="715963" indent="-179388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tabLst/>
              <a:defRPr sz="1050">
                <a:solidFill>
                  <a:schemeClr val="tx2"/>
                </a:solidFill>
                <a:latin typeface="+mj-lt"/>
              </a:defRPr>
            </a:lvl5pPr>
            <a:lvl6pPr marL="357188" indent="-171450">
              <a:spcBef>
                <a:spcPts val="200"/>
              </a:spcBef>
              <a:buFont typeface="Arial" charset="0"/>
              <a:buChar char="•"/>
              <a:tabLst/>
              <a:defRPr sz="1400" b="0">
                <a:solidFill>
                  <a:schemeClr val="tx2">
                    <a:lumMod val="75000"/>
                  </a:schemeClr>
                </a:solidFill>
              </a:defRPr>
            </a:lvl6pPr>
            <a:lvl7pPr marL="536575" indent="-171450"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tabLst/>
              <a:defRPr sz="1200">
                <a:solidFill>
                  <a:schemeClr val="tx2"/>
                </a:solidFill>
              </a:defRPr>
            </a:lvl7pPr>
            <a:lvl8pPr marL="439737" indent="-171450">
              <a:buFont typeface="Arial" charset="0"/>
              <a:buChar char="•"/>
              <a:tabLst/>
              <a:defRPr>
                <a:solidFill>
                  <a:schemeClr val="tx2"/>
                </a:solidFill>
              </a:defRPr>
            </a:lvl8pPr>
            <a:lvl9pPr marL="762000" indent="-209550"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tabLst/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8910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80947" y="1410891"/>
            <a:ext cx="4751528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360947" y="1410891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947" y="915988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1" i="0">
                <a:solidFill>
                  <a:schemeClr val="accent1"/>
                </a:solidFill>
                <a:latin typeface="+mj-lt"/>
                <a:ea typeface="Bebas Neue" charset="0"/>
                <a:cs typeface="Bebas Neue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4" name="Text Placeholder 3"/>
          <p:cNvSpPr>
            <a:spLocks noGrp="1"/>
          </p:cNvSpPr>
          <p:nvPr>
            <p:ph type="body" sz="half" idx="29" hasCustomPrompt="1"/>
          </p:nvPr>
        </p:nvSpPr>
        <p:spPr>
          <a:xfrm>
            <a:off x="1080947" y="2165946"/>
            <a:ext cx="4751528" cy="75703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95" name="Text Placeholder 29"/>
          <p:cNvSpPr>
            <a:spLocks noGrp="1"/>
          </p:cNvSpPr>
          <p:nvPr>
            <p:ph type="body" sz="quarter" idx="30" hasCustomPrompt="1"/>
          </p:nvPr>
        </p:nvSpPr>
        <p:spPr>
          <a:xfrm>
            <a:off x="360947" y="2165946"/>
            <a:ext cx="720000" cy="7570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96" name="Text Placeholder 3"/>
          <p:cNvSpPr>
            <a:spLocks noGrp="1"/>
          </p:cNvSpPr>
          <p:nvPr>
            <p:ph type="body" sz="half" idx="31" hasCustomPrompt="1"/>
          </p:nvPr>
        </p:nvSpPr>
        <p:spPr>
          <a:xfrm>
            <a:off x="1080947" y="2922985"/>
            <a:ext cx="4751528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97" name="Text Placeholder 29"/>
          <p:cNvSpPr>
            <a:spLocks noGrp="1"/>
          </p:cNvSpPr>
          <p:nvPr>
            <p:ph type="body" sz="quarter" idx="32" hasCustomPrompt="1"/>
          </p:nvPr>
        </p:nvSpPr>
        <p:spPr>
          <a:xfrm>
            <a:off x="360947" y="2922985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39" hasCustomPrompt="1"/>
          </p:nvPr>
        </p:nvSpPr>
        <p:spPr>
          <a:xfrm>
            <a:off x="1080947" y="3678040"/>
            <a:ext cx="4751528" cy="75703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16" name="Text Placeholder 29"/>
          <p:cNvSpPr>
            <a:spLocks noGrp="1"/>
          </p:cNvSpPr>
          <p:nvPr>
            <p:ph type="body" sz="quarter" idx="40" hasCustomPrompt="1"/>
          </p:nvPr>
        </p:nvSpPr>
        <p:spPr>
          <a:xfrm>
            <a:off x="360947" y="3678040"/>
            <a:ext cx="720000" cy="7570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60000" y="276456"/>
            <a:ext cx="8424000" cy="6395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0126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80948" y="2166938"/>
            <a:ext cx="3167929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360947" y="2166938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947" y="915988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1" i="0">
                <a:solidFill>
                  <a:schemeClr val="accent1"/>
                </a:solidFill>
                <a:latin typeface="+mj-lt"/>
                <a:ea typeface="Bebas Neue" charset="0"/>
                <a:cs typeface="Bebas Neue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4" name="Text Placeholder 3"/>
          <p:cNvSpPr>
            <a:spLocks noGrp="1"/>
          </p:cNvSpPr>
          <p:nvPr>
            <p:ph type="body" sz="half" idx="29" hasCustomPrompt="1"/>
          </p:nvPr>
        </p:nvSpPr>
        <p:spPr>
          <a:xfrm>
            <a:off x="1080948" y="2923609"/>
            <a:ext cx="3167929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95" name="Text Placeholder 29"/>
          <p:cNvSpPr>
            <a:spLocks noGrp="1"/>
          </p:cNvSpPr>
          <p:nvPr>
            <p:ph type="body" sz="quarter" idx="30" hasCustomPrompt="1"/>
          </p:nvPr>
        </p:nvSpPr>
        <p:spPr>
          <a:xfrm>
            <a:off x="360947" y="2923609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96" name="Text Placeholder 3"/>
          <p:cNvSpPr>
            <a:spLocks noGrp="1"/>
          </p:cNvSpPr>
          <p:nvPr>
            <p:ph type="body" sz="half" idx="31" hasCustomPrompt="1"/>
          </p:nvPr>
        </p:nvSpPr>
        <p:spPr>
          <a:xfrm>
            <a:off x="1080948" y="3679656"/>
            <a:ext cx="3167929" cy="755423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97" name="Text Placeholder 29"/>
          <p:cNvSpPr>
            <a:spLocks noGrp="1"/>
          </p:cNvSpPr>
          <p:nvPr>
            <p:ph type="body" sz="quarter" idx="32" hasCustomPrompt="1"/>
          </p:nvPr>
        </p:nvSpPr>
        <p:spPr>
          <a:xfrm>
            <a:off x="360947" y="3679656"/>
            <a:ext cx="720000" cy="755423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98" name="Text Placeholder 3"/>
          <p:cNvSpPr>
            <a:spLocks noGrp="1"/>
          </p:cNvSpPr>
          <p:nvPr>
            <p:ph type="body" sz="half" idx="33" hasCustomPrompt="1"/>
          </p:nvPr>
        </p:nvSpPr>
        <p:spPr>
          <a:xfrm>
            <a:off x="5618747" y="2166938"/>
            <a:ext cx="31662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99" name="Text Placeholder 29"/>
          <p:cNvSpPr>
            <a:spLocks noGrp="1"/>
          </p:cNvSpPr>
          <p:nvPr>
            <p:ph type="body" sz="quarter" idx="34" hasCustomPrompt="1"/>
          </p:nvPr>
        </p:nvSpPr>
        <p:spPr>
          <a:xfrm>
            <a:off x="4898747" y="2166938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00" name="Text Placeholder 3"/>
          <p:cNvSpPr>
            <a:spLocks noGrp="1"/>
          </p:cNvSpPr>
          <p:nvPr>
            <p:ph type="body" sz="half" idx="35" hasCustomPrompt="1"/>
          </p:nvPr>
        </p:nvSpPr>
        <p:spPr>
          <a:xfrm>
            <a:off x="5618747" y="2923609"/>
            <a:ext cx="3166200" cy="756048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101" name="Text Placeholder 29"/>
          <p:cNvSpPr>
            <a:spLocks noGrp="1"/>
          </p:cNvSpPr>
          <p:nvPr>
            <p:ph type="body" sz="quarter" idx="36" hasCustomPrompt="1"/>
          </p:nvPr>
        </p:nvSpPr>
        <p:spPr>
          <a:xfrm>
            <a:off x="4898747" y="2923609"/>
            <a:ext cx="720000" cy="756048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02" name="Text Placeholder 3"/>
          <p:cNvSpPr>
            <a:spLocks noGrp="1"/>
          </p:cNvSpPr>
          <p:nvPr>
            <p:ph type="body" sz="half" idx="37" hasCustomPrompt="1"/>
          </p:nvPr>
        </p:nvSpPr>
        <p:spPr>
          <a:xfrm>
            <a:off x="5618747" y="3679656"/>
            <a:ext cx="3166200" cy="755423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5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103" name="Text Placeholder 29"/>
          <p:cNvSpPr>
            <a:spLocks noGrp="1"/>
          </p:cNvSpPr>
          <p:nvPr>
            <p:ph type="body" sz="quarter" idx="38" hasCustomPrompt="1"/>
          </p:nvPr>
        </p:nvSpPr>
        <p:spPr>
          <a:xfrm>
            <a:off x="4898747" y="3679656"/>
            <a:ext cx="720000" cy="755423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622"/>
            <a:ext cx="8424000" cy="63936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3385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80948" y="2166938"/>
            <a:ext cx="1798778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360947" y="2166938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947" y="915988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1" i="0">
                <a:solidFill>
                  <a:schemeClr val="accent1"/>
                </a:solidFill>
                <a:latin typeface="+mj-lt"/>
                <a:ea typeface="Bebas Neue" charset="0"/>
                <a:cs typeface="Bebas Neue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4" name="Text Placeholder 3"/>
          <p:cNvSpPr>
            <a:spLocks noGrp="1"/>
          </p:cNvSpPr>
          <p:nvPr>
            <p:ph type="body" sz="half" idx="29" hasCustomPrompt="1"/>
          </p:nvPr>
        </p:nvSpPr>
        <p:spPr>
          <a:xfrm>
            <a:off x="1080948" y="2922983"/>
            <a:ext cx="1798778" cy="756048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95" name="Text Placeholder 29"/>
          <p:cNvSpPr>
            <a:spLocks noGrp="1"/>
          </p:cNvSpPr>
          <p:nvPr>
            <p:ph type="body" sz="quarter" idx="30" hasCustomPrompt="1"/>
          </p:nvPr>
        </p:nvSpPr>
        <p:spPr>
          <a:xfrm>
            <a:off x="360947" y="2922983"/>
            <a:ext cx="720000" cy="756048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96" name="Text Placeholder 3"/>
          <p:cNvSpPr>
            <a:spLocks noGrp="1"/>
          </p:cNvSpPr>
          <p:nvPr>
            <p:ph type="body" sz="half" idx="31" hasCustomPrompt="1"/>
          </p:nvPr>
        </p:nvSpPr>
        <p:spPr>
          <a:xfrm>
            <a:off x="1080948" y="3679032"/>
            <a:ext cx="1798778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97" name="Text Placeholder 29"/>
          <p:cNvSpPr>
            <a:spLocks noGrp="1"/>
          </p:cNvSpPr>
          <p:nvPr>
            <p:ph type="body" sz="quarter" idx="32" hasCustomPrompt="1"/>
          </p:nvPr>
        </p:nvSpPr>
        <p:spPr>
          <a:xfrm>
            <a:off x="360947" y="3679032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98" name="Text Placeholder 3"/>
          <p:cNvSpPr>
            <a:spLocks noGrp="1"/>
          </p:cNvSpPr>
          <p:nvPr>
            <p:ph type="body" sz="half" idx="33" hasCustomPrompt="1"/>
          </p:nvPr>
        </p:nvSpPr>
        <p:spPr>
          <a:xfrm>
            <a:off x="4031525" y="2166938"/>
            <a:ext cx="180095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99" name="Text Placeholder 29"/>
          <p:cNvSpPr>
            <a:spLocks noGrp="1"/>
          </p:cNvSpPr>
          <p:nvPr>
            <p:ph type="body" sz="quarter" idx="34" hasCustomPrompt="1"/>
          </p:nvPr>
        </p:nvSpPr>
        <p:spPr>
          <a:xfrm>
            <a:off x="3311525" y="2166938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00" name="Text Placeholder 3"/>
          <p:cNvSpPr>
            <a:spLocks noGrp="1"/>
          </p:cNvSpPr>
          <p:nvPr>
            <p:ph type="body" sz="half" idx="35" hasCustomPrompt="1"/>
          </p:nvPr>
        </p:nvSpPr>
        <p:spPr>
          <a:xfrm>
            <a:off x="4031525" y="2922983"/>
            <a:ext cx="1800950" cy="75604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101" name="Text Placeholder 29"/>
          <p:cNvSpPr>
            <a:spLocks noGrp="1"/>
          </p:cNvSpPr>
          <p:nvPr>
            <p:ph type="body" sz="quarter" idx="36" hasCustomPrompt="1"/>
          </p:nvPr>
        </p:nvSpPr>
        <p:spPr>
          <a:xfrm>
            <a:off x="3311525" y="2922983"/>
            <a:ext cx="720000" cy="75604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02" name="Text Placeholder 3"/>
          <p:cNvSpPr>
            <a:spLocks noGrp="1"/>
          </p:cNvSpPr>
          <p:nvPr>
            <p:ph type="body" sz="half" idx="37" hasCustomPrompt="1"/>
          </p:nvPr>
        </p:nvSpPr>
        <p:spPr>
          <a:xfrm>
            <a:off x="4031525" y="3679032"/>
            <a:ext cx="180095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103" name="Text Placeholder 29"/>
          <p:cNvSpPr>
            <a:spLocks noGrp="1"/>
          </p:cNvSpPr>
          <p:nvPr>
            <p:ph type="body" sz="quarter" idx="38" hasCustomPrompt="1"/>
          </p:nvPr>
        </p:nvSpPr>
        <p:spPr>
          <a:xfrm>
            <a:off x="3311525" y="3679032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39" hasCustomPrompt="1"/>
          </p:nvPr>
        </p:nvSpPr>
        <p:spPr>
          <a:xfrm>
            <a:off x="6984276" y="2166938"/>
            <a:ext cx="1800672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16" name="Text Placeholder 29"/>
          <p:cNvSpPr>
            <a:spLocks noGrp="1"/>
          </p:cNvSpPr>
          <p:nvPr>
            <p:ph type="body" sz="quarter" idx="40" hasCustomPrompt="1"/>
          </p:nvPr>
        </p:nvSpPr>
        <p:spPr>
          <a:xfrm>
            <a:off x="6264275" y="2166938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41" hasCustomPrompt="1"/>
          </p:nvPr>
        </p:nvSpPr>
        <p:spPr>
          <a:xfrm>
            <a:off x="6984276" y="2922983"/>
            <a:ext cx="1800672" cy="75604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18" name="Text Placeholder 29"/>
          <p:cNvSpPr>
            <a:spLocks noGrp="1"/>
          </p:cNvSpPr>
          <p:nvPr>
            <p:ph type="body" sz="quarter" idx="42" hasCustomPrompt="1"/>
          </p:nvPr>
        </p:nvSpPr>
        <p:spPr>
          <a:xfrm>
            <a:off x="6264275" y="2922983"/>
            <a:ext cx="720000" cy="75604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43" hasCustomPrompt="1"/>
          </p:nvPr>
        </p:nvSpPr>
        <p:spPr>
          <a:xfrm>
            <a:off x="6984276" y="3679032"/>
            <a:ext cx="1800672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section title</a:t>
            </a:r>
          </a:p>
        </p:txBody>
      </p:sp>
      <p:sp>
        <p:nvSpPr>
          <p:cNvPr id="20" name="Text Placeholder 29"/>
          <p:cNvSpPr>
            <a:spLocks noGrp="1"/>
          </p:cNvSpPr>
          <p:nvPr>
            <p:ph type="body" sz="quarter" idx="44" hasCustomPrompt="1"/>
          </p:nvPr>
        </p:nvSpPr>
        <p:spPr>
          <a:xfrm>
            <a:off x="6264275" y="3679032"/>
            <a:ext cx="720000" cy="756047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b="0" i="0">
                <a:solidFill>
                  <a:schemeClr val="tx2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622"/>
            <a:ext cx="8424000" cy="63936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50515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622"/>
            <a:ext cx="8424000" cy="63936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sz="quarter" idx="15"/>
          </p:nvPr>
        </p:nvSpPr>
        <p:spPr>
          <a:xfrm>
            <a:off x="358776" y="1410890"/>
            <a:ext cx="3984625" cy="3024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ontent Placeholder 13"/>
          <p:cNvSpPr>
            <a:spLocks noGrp="1"/>
          </p:cNvSpPr>
          <p:nvPr>
            <p:ph sz="quarter" idx="16"/>
          </p:nvPr>
        </p:nvSpPr>
        <p:spPr>
          <a:xfrm>
            <a:off x="4800600" y="1410890"/>
            <a:ext cx="3984625" cy="3024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000" y="915988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1" i="0">
                <a:solidFill>
                  <a:schemeClr val="accent1"/>
                </a:solidFill>
                <a:latin typeface="+mj-lt"/>
                <a:ea typeface="Bebas Neue" charset="0"/>
                <a:cs typeface="Bebas Neue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533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225"/>
            <a:ext cx="8424000" cy="6397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360001" y="1410891"/>
            <a:ext cx="5472475" cy="3024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6264276" y="1410891"/>
            <a:ext cx="2520949" cy="3024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000" y="915989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1" i="0">
                <a:solidFill>
                  <a:schemeClr val="accent1"/>
                </a:solidFill>
                <a:latin typeface="+mj-lt"/>
                <a:ea typeface="Bebas Neue" charset="0"/>
                <a:cs typeface="Bebas Neue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096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225" y="276225"/>
            <a:ext cx="8424000" cy="6369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360000" y="1410891"/>
            <a:ext cx="2519725" cy="3019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3311526" y="1410891"/>
            <a:ext cx="5472475" cy="3019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000" y="913143"/>
            <a:ext cx="8424000" cy="255257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1754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224"/>
            <a:ext cx="8424000" cy="6397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360000" y="1410891"/>
            <a:ext cx="2519725" cy="3024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Content Placeholder 37"/>
          <p:cNvSpPr>
            <a:spLocks noGrp="1"/>
          </p:cNvSpPr>
          <p:nvPr>
            <p:ph sz="quarter" idx="16"/>
          </p:nvPr>
        </p:nvSpPr>
        <p:spPr>
          <a:xfrm>
            <a:off x="3311525" y="1410891"/>
            <a:ext cx="2520950" cy="3024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6264276" y="1410891"/>
            <a:ext cx="2518777" cy="3024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000" y="915988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876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224"/>
            <a:ext cx="8424000" cy="639763"/>
          </a:xfrm>
        </p:spPr>
        <p:txBody>
          <a:bodyPr/>
          <a:lstStyle>
            <a:lvl1pPr>
              <a:defRPr b="0" i="0"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000" y="915989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Content Placeholder 37"/>
          <p:cNvSpPr>
            <a:spLocks noGrp="1"/>
          </p:cNvSpPr>
          <p:nvPr>
            <p:ph sz="quarter" idx="15"/>
          </p:nvPr>
        </p:nvSpPr>
        <p:spPr>
          <a:xfrm>
            <a:off x="360000" y="1410891"/>
            <a:ext cx="8424000" cy="3024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9678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225"/>
            <a:ext cx="8424000" cy="639764"/>
          </a:xfrm>
        </p:spPr>
        <p:txBody>
          <a:bodyPr/>
          <a:lstStyle>
            <a:lvl1pPr>
              <a:defRPr b="0" i="0"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000" y="915989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3"/>
          <p:cNvSpPr>
            <a:spLocks noGrp="1"/>
          </p:cNvSpPr>
          <p:nvPr userDrawn="1">
            <p:ph type="chart" sz="quarter" idx="29" hasCustomPrompt="1"/>
          </p:nvPr>
        </p:nvSpPr>
        <p:spPr>
          <a:xfrm>
            <a:off x="360000" y="1410891"/>
            <a:ext cx="8424000" cy="3024187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insert chart from template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301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76224"/>
            <a:ext cx="8424000" cy="639763"/>
          </a:xfrm>
        </p:spPr>
        <p:txBody>
          <a:bodyPr/>
          <a:lstStyle>
            <a:lvl1pPr>
              <a:defRPr b="0" i="0"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360000" y="915989"/>
            <a:ext cx="8424000" cy="252412"/>
          </a:xfrm>
        </p:spPr>
        <p:txBody>
          <a:bodyPr anchor="t"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Table style</a:t>
            </a:r>
          </a:p>
        </p:txBody>
      </p:sp>
    </p:spTree>
    <p:extLst>
      <p:ext uri="{BB962C8B-B14F-4D97-AF65-F5344CB8AC3E}">
        <p14:creationId xmlns:p14="http://schemas.microsoft.com/office/powerpoint/2010/main" val="2902820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947" y="546497"/>
            <a:ext cx="8424000" cy="1215000"/>
          </a:xfrm>
        </p:spPr>
        <p:txBody>
          <a:bodyPr anchor="ctr"/>
          <a:lstStyle>
            <a:lvl1pPr>
              <a:lnSpc>
                <a:spcPct val="95000"/>
              </a:lnSpc>
              <a:defRPr sz="4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366964" y="2166937"/>
            <a:ext cx="8424000" cy="2268203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21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None/>
              <a:tabLst/>
              <a:defRPr sz="1500" b="1">
                <a:solidFill>
                  <a:schemeClr val="tx2">
                    <a:lumMod val="75000"/>
                  </a:schemeClr>
                </a:solidFill>
                <a:latin typeface="+mj-lt"/>
              </a:defRPr>
            </a:lvl2pPr>
            <a:lvl3pPr marL="285750" indent="-2857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3pPr>
            <a:lvl4pPr marL="285750" indent="-2857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4pPr>
            <a:lvl5pPr marL="285750" indent="-2857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5pPr>
            <a:lvl6pPr marL="357188" indent="-171450">
              <a:spcBef>
                <a:spcPts val="200"/>
              </a:spcBef>
              <a:buFont typeface="Arial" charset="0"/>
              <a:buChar char="•"/>
              <a:tabLst/>
              <a:defRPr sz="1400" b="0">
                <a:solidFill>
                  <a:schemeClr val="tx2">
                    <a:lumMod val="75000"/>
                  </a:schemeClr>
                </a:solidFill>
              </a:defRPr>
            </a:lvl6pPr>
            <a:lvl7pPr marL="536575" indent="-171450"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tabLst/>
              <a:defRPr sz="1200">
                <a:solidFill>
                  <a:schemeClr val="tx2"/>
                </a:solidFill>
              </a:defRPr>
            </a:lvl7pPr>
            <a:lvl8pPr marL="439737" indent="-171450">
              <a:buFont typeface="Arial" charset="0"/>
              <a:buChar char="•"/>
              <a:tabLst/>
              <a:defRPr>
                <a:solidFill>
                  <a:schemeClr val="tx2"/>
                </a:solidFill>
              </a:defRPr>
            </a:lvl8pPr>
            <a:lvl9pPr marL="762000" indent="-209550"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tabLst/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5"/>
            <a:r>
              <a:rPr lang="en-US"/>
              <a:t>Third level</a:t>
            </a:r>
          </a:p>
          <a:p>
            <a:pPr lvl="6"/>
            <a:r>
              <a:rPr lang="en-US"/>
              <a:t>Fourth level</a:t>
            </a:r>
          </a:p>
          <a:p>
            <a:pPr lvl="8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999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947" y="546497"/>
            <a:ext cx="8424000" cy="1215000"/>
          </a:xfrm>
        </p:spPr>
        <p:txBody>
          <a:bodyPr anchor="ctr"/>
          <a:lstStyle>
            <a:lvl1pPr>
              <a:lnSpc>
                <a:spcPct val="95000"/>
              </a:lnSpc>
              <a:defRPr sz="4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366964" y="2166938"/>
            <a:ext cx="8424000" cy="2268202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21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None/>
              <a:tabLst/>
              <a:defRPr sz="1500" b="1">
                <a:solidFill>
                  <a:schemeClr val="tx2">
                    <a:lumMod val="75000"/>
                  </a:schemeClr>
                </a:solidFill>
                <a:latin typeface="+mj-lt"/>
              </a:defRPr>
            </a:lvl2pPr>
            <a:lvl3pPr marL="285750" indent="-2857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3pPr>
            <a:lvl4pPr marL="285750" indent="-2857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4pPr>
            <a:lvl5pPr marL="285750" indent="-2857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5pPr>
            <a:lvl6pPr marL="357188" indent="-171450">
              <a:spcBef>
                <a:spcPts val="200"/>
              </a:spcBef>
              <a:buFont typeface="Arial" charset="0"/>
              <a:buChar char="•"/>
              <a:tabLst/>
              <a:defRPr sz="1400" b="0">
                <a:solidFill>
                  <a:schemeClr val="tx2">
                    <a:lumMod val="75000"/>
                  </a:schemeClr>
                </a:solidFill>
              </a:defRPr>
            </a:lvl6pPr>
            <a:lvl7pPr marL="536575" indent="-171450"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tabLst/>
              <a:defRPr sz="1200">
                <a:solidFill>
                  <a:schemeClr val="tx2"/>
                </a:solidFill>
              </a:defRPr>
            </a:lvl7pPr>
            <a:lvl8pPr marL="439737" indent="-171450">
              <a:buFont typeface="Arial" charset="0"/>
              <a:buChar char="•"/>
              <a:tabLst/>
              <a:defRPr>
                <a:solidFill>
                  <a:schemeClr val="tx2"/>
                </a:solidFill>
              </a:defRPr>
            </a:lvl8pPr>
            <a:lvl9pPr marL="762000" indent="-209550"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tabLst/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5"/>
            <a:r>
              <a:rPr lang="en-US"/>
              <a:t>Third level</a:t>
            </a:r>
          </a:p>
          <a:p>
            <a:pPr lvl="6"/>
            <a:r>
              <a:rPr lang="en-US"/>
              <a:t>Fourth level</a:t>
            </a:r>
          </a:p>
          <a:p>
            <a:pPr lvl="8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999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 userDrawn="1"/>
        </p:nvSpPr>
        <p:spPr>
          <a:xfrm>
            <a:off x="-952500" y="2219326"/>
            <a:ext cx="65" cy="3323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354932" y="1410891"/>
            <a:ext cx="5480384" cy="3024187"/>
          </a:xfrm>
        </p:spPr>
        <p:txBody>
          <a:bodyPr/>
          <a:lstStyle>
            <a:lvl1pPr marL="0" algn="r" defTabSz="914400" rtl="0" eaLnBrk="1" latinLnBrk="0" hangingPunct="1">
              <a:lnSpc>
                <a:spcPct val="70000"/>
              </a:lnSpc>
              <a:buNone/>
              <a:defRPr lang="en-US" sz="80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264275" y="2166937"/>
            <a:ext cx="2526689" cy="2268203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18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None/>
              <a:tabLst/>
              <a:defRPr sz="1500" b="1">
                <a:solidFill>
                  <a:schemeClr val="tx2">
                    <a:lumMod val="75000"/>
                  </a:schemeClr>
                </a:solidFill>
                <a:latin typeface="+mj-lt"/>
              </a:defRPr>
            </a:lvl2pPr>
            <a:lvl3pPr marL="285750" indent="-2857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3pPr>
            <a:lvl4pPr marL="285750" indent="-2857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4pPr>
            <a:lvl5pPr marL="285750" indent="-28575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charset="0"/>
              <a:buChar char="•"/>
              <a:defRPr sz="1500">
                <a:solidFill>
                  <a:schemeClr val="tx2">
                    <a:lumMod val="75000"/>
                  </a:schemeClr>
                </a:solidFill>
                <a:latin typeface="+mj-lt"/>
              </a:defRPr>
            </a:lvl5pPr>
            <a:lvl6pPr marL="357188" indent="-171450">
              <a:spcBef>
                <a:spcPts val="200"/>
              </a:spcBef>
              <a:buFont typeface="Arial" charset="0"/>
              <a:buChar char="•"/>
              <a:tabLst/>
              <a:defRPr sz="1400" b="0">
                <a:solidFill>
                  <a:schemeClr val="tx2">
                    <a:lumMod val="75000"/>
                  </a:schemeClr>
                </a:solidFill>
              </a:defRPr>
            </a:lvl6pPr>
            <a:lvl7pPr marL="536575" indent="-171450"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tabLst/>
              <a:defRPr sz="1200">
                <a:solidFill>
                  <a:schemeClr val="tx2"/>
                </a:solidFill>
              </a:defRPr>
            </a:lvl7pPr>
            <a:lvl8pPr marL="439737" indent="-171450">
              <a:buFont typeface="Arial" charset="0"/>
              <a:buChar char="•"/>
              <a:tabLst/>
              <a:defRPr>
                <a:solidFill>
                  <a:schemeClr val="tx2"/>
                </a:solidFill>
              </a:defRPr>
            </a:lvl8pPr>
            <a:lvl9pPr marL="762000" indent="-209550"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tabLst/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5"/>
            <a:r>
              <a:rPr lang="en-US"/>
              <a:t>Third level</a:t>
            </a:r>
          </a:p>
          <a:p>
            <a:pPr lvl="6"/>
            <a:r>
              <a:rPr lang="en-US"/>
              <a:t>Fourth level</a:t>
            </a:r>
          </a:p>
          <a:p>
            <a:pPr lvl="8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1853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30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8860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 userDrawn="1"/>
        </p:nvSpPr>
        <p:spPr>
          <a:xfrm>
            <a:off x="0" y="4435079"/>
            <a:ext cx="9144000" cy="7128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000" y="276456"/>
            <a:ext cx="8424000" cy="6395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000" y="1410891"/>
            <a:ext cx="8425225" cy="30241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8" name="Image 8"/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80"/>
          <a:stretch/>
        </p:blipFill>
        <p:spPr bwMode="auto">
          <a:xfrm>
            <a:off x="7060992" y="4611515"/>
            <a:ext cx="1724233" cy="3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359999" y="-607101"/>
            <a:ext cx="2519726" cy="106805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3312749" y="-607101"/>
            <a:ext cx="2519726" cy="106805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6265499" y="-607101"/>
            <a:ext cx="2519726" cy="106805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 flipH="1">
            <a:off x="2879725" y="-713946"/>
            <a:ext cx="433024" cy="106844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 flipH="1">
            <a:off x="5832475" y="-713946"/>
            <a:ext cx="433024" cy="106844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 flipH="1">
            <a:off x="-3" y="-713946"/>
            <a:ext cx="358775" cy="106844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 flipH="1">
            <a:off x="8785223" y="-713946"/>
            <a:ext cx="358775" cy="106844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 flipH="1">
            <a:off x="-791527" y="0"/>
            <a:ext cx="144000" cy="276225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4" name="Rectangle 13"/>
          <p:cNvSpPr/>
          <p:nvPr userDrawn="1"/>
        </p:nvSpPr>
        <p:spPr>
          <a:xfrm flipH="1">
            <a:off x="-935527" y="4867275"/>
            <a:ext cx="144000" cy="276225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 flipH="1">
            <a:off x="-791527" y="546496"/>
            <a:ext cx="144000" cy="621508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8" name="Rectangle 17"/>
          <p:cNvSpPr/>
          <p:nvPr userDrawn="1"/>
        </p:nvSpPr>
        <p:spPr>
          <a:xfrm flipH="1">
            <a:off x="-935527" y="3679031"/>
            <a:ext cx="144000" cy="756048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0" name="Rectangle 19"/>
          <p:cNvSpPr/>
          <p:nvPr userDrawn="1"/>
        </p:nvSpPr>
        <p:spPr>
          <a:xfrm flipH="1">
            <a:off x="-791527" y="2925269"/>
            <a:ext cx="144000" cy="756048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1" name="Rectangle 20"/>
          <p:cNvSpPr/>
          <p:nvPr userDrawn="1"/>
        </p:nvSpPr>
        <p:spPr>
          <a:xfrm flipH="1">
            <a:off x="-935527" y="2164650"/>
            <a:ext cx="144000" cy="756048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 flipH="1">
            <a:off x="-791527" y="1410889"/>
            <a:ext cx="144000" cy="756048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3" name="Rectangle 22"/>
          <p:cNvSpPr/>
          <p:nvPr userDrawn="1"/>
        </p:nvSpPr>
        <p:spPr>
          <a:xfrm flipH="1">
            <a:off x="-935527" y="1168800"/>
            <a:ext cx="144000" cy="239804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4" name="Rectangle 23"/>
          <p:cNvSpPr/>
          <p:nvPr userDrawn="1"/>
        </p:nvSpPr>
        <p:spPr>
          <a:xfrm flipH="1">
            <a:off x="-935527" y="276225"/>
            <a:ext cx="144000" cy="270272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>
            <a:off x="-791527" y="4435078"/>
            <a:ext cx="144000" cy="432197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accent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879725" y="4867276"/>
            <a:ext cx="3384550" cy="1738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4"/>
          </p:nvPr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4669F32-90E1-ED4F-B6D9-07697D6A4E9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729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5" r:id="rId2"/>
    <p:sldLayoutId id="2147483666" r:id="rId3"/>
    <p:sldLayoutId id="2147483658" r:id="rId4"/>
    <p:sldLayoutId id="2147483655" r:id="rId5"/>
    <p:sldLayoutId id="2147483652" r:id="rId6"/>
    <p:sldLayoutId id="2147483654" r:id="rId7"/>
    <p:sldLayoutId id="2147483651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6" r:id="rId1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i="0" kern="1200">
          <a:solidFill>
            <a:schemeClr val="tx2"/>
          </a:solidFill>
          <a:latin typeface="Bebas Neue" charset="0"/>
          <a:ea typeface="Bebas Neue" charset="0"/>
          <a:cs typeface="Bebas Neue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600" b="1" i="0" kern="1200">
          <a:solidFill>
            <a:schemeClr val="accent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200"/>
        </a:spcBef>
        <a:spcAft>
          <a:spcPts val="0"/>
        </a:spcAft>
        <a:buFont typeface="Arial" panose="020B0604020202020204" pitchFamily="34" charset="0"/>
        <a:buChar char="​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​"/>
        <a:defRPr sz="1100" kern="1200">
          <a:solidFill>
            <a:schemeClr val="tx2"/>
          </a:solidFill>
          <a:latin typeface="+mn-lt"/>
          <a:ea typeface="+mn-ea"/>
          <a:cs typeface="+mn-cs"/>
        </a:defRPr>
      </a:lvl3pPr>
      <a:lvl4pPr marL="169863" indent="-169863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§"/>
        <a:defRPr sz="11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346075" indent="-17621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1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​"/>
        <a:defRPr sz="1100" b="1" kern="1200">
          <a:solidFill>
            <a:schemeClr val="bg2">
              <a:lumMod val="90000"/>
            </a:schemeClr>
          </a:solidFill>
          <a:latin typeface="+mj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100" kern="1200">
          <a:solidFill>
            <a:schemeClr val="bg2">
              <a:lumMod val="90000"/>
            </a:schemeClr>
          </a:solidFill>
          <a:latin typeface="+mj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100" kern="1200">
          <a:solidFill>
            <a:schemeClr val="accent1"/>
          </a:solidFill>
          <a:latin typeface="+mj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100" kern="1200">
          <a:solidFill>
            <a:schemeClr val="accent3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4" userDrawn="1">
          <p15:clr>
            <a:srgbClr val="F26B43"/>
          </p15:clr>
        </p15:guide>
        <p15:guide id="2" orient="horz" pos="577" userDrawn="1">
          <p15:clr>
            <a:srgbClr val="F26B43"/>
          </p15:clr>
        </p15:guide>
        <p15:guide id="3" orient="horz" pos="736" userDrawn="1">
          <p15:clr>
            <a:srgbClr val="F26B43"/>
          </p15:clr>
        </p15:guide>
        <p15:guide id="4" orient="horz" pos="889" userDrawn="1">
          <p15:clr>
            <a:srgbClr val="F26B43"/>
          </p15:clr>
        </p15:guide>
        <p15:guide id="5" orient="horz" pos="1365" userDrawn="1">
          <p15:clr>
            <a:srgbClr val="F26B43"/>
          </p15:clr>
        </p15:guide>
        <p15:guide id="6" orient="horz" pos="1841" userDrawn="1">
          <p15:clr>
            <a:srgbClr val="F26B43"/>
          </p15:clr>
        </p15:guide>
        <p15:guide id="7" orient="horz" pos="2794" userDrawn="1">
          <p15:clr>
            <a:srgbClr val="F26B43"/>
          </p15:clr>
        </p15:guide>
        <p15:guide id="8" orient="horz" pos="2318" userDrawn="1">
          <p15:clr>
            <a:srgbClr val="F26B43"/>
          </p15:clr>
        </p15:guide>
        <p15:guide id="9" orient="horz" pos="3066" userDrawn="1">
          <p15:clr>
            <a:srgbClr val="F26B43"/>
          </p15:clr>
        </p15:guide>
        <p15:guide id="10" pos="226" userDrawn="1">
          <p15:clr>
            <a:srgbClr val="F26B43"/>
          </p15:clr>
        </p15:guide>
        <p15:guide id="11" pos="1814" userDrawn="1">
          <p15:clr>
            <a:srgbClr val="F26B43"/>
          </p15:clr>
        </p15:guide>
        <p15:guide id="12" pos="2086" userDrawn="1">
          <p15:clr>
            <a:srgbClr val="F26B43"/>
          </p15:clr>
        </p15:guide>
        <p15:guide id="13" pos="3674" userDrawn="1">
          <p15:clr>
            <a:srgbClr val="F26B43"/>
          </p15:clr>
        </p15:guide>
        <p15:guide id="14" pos="3946" userDrawn="1">
          <p15:clr>
            <a:srgbClr val="F26B43"/>
          </p15:clr>
        </p15:guide>
        <p15:guide id="15" pos="553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Arthropod" TargetMode="External"/><Relationship Id="rId3" Type="http://schemas.openxmlformats.org/officeDocument/2006/relationships/image" Target="../media/image9.png"/><Relationship Id="rId7" Type="http://schemas.openxmlformats.org/officeDocument/2006/relationships/hyperlink" Target="https://en.wikipedia.org/wiki/Millipede#cite_note-2" TargetMode="External"/><Relationship Id="rId12" Type="http://schemas.openxmlformats.org/officeDocument/2006/relationships/hyperlink" Target="https://en.wikipedia.org/wiki/Selective_breedin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en.wikipedia.org/wiki/Millipede#cite_note-1" TargetMode="External"/><Relationship Id="rId11" Type="http://schemas.openxmlformats.org/officeDocument/2006/relationships/hyperlink" Target="https://en.wikipedia.org/wiki/Gray_wolf" TargetMode="External"/><Relationship Id="rId5" Type="http://schemas.openxmlformats.org/officeDocument/2006/relationships/hyperlink" Target="https://en.wikipedia.org/wiki/Latin" TargetMode="External"/><Relationship Id="rId10" Type="http://schemas.openxmlformats.org/officeDocument/2006/relationships/hyperlink" Target="https://en.wikipedia.org/wiki/Domestication_of_vertebrates" TargetMode="External"/><Relationship Id="rId4" Type="http://schemas.openxmlformats.org/officeDocument/2006/relationships/image" Target="../media/image10.png"/><Relationship Id="rId9" Type="http://schemas.openxmlformats.org/officeDocument/2006/relationships/hyperlink" Target="https://en.wikipedia.org/wiki/Arthropod_leg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2.sv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illipede#cite_note-1" TargetMode="External"/><Relationship Id="rId2" Type="http://schemas.openxmlformats.org/officeDocument/2006/relationships/hyperlink" Target="https://en.wikipedia.org/wiki/Latin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en.wikipedia.org/wiki/Arthropod_leg" TargetMode="External"/><Relationship Id="rId5" Type="http://schemas.openxmlformats.org/officeDocument/2006/relationships/hyperlink" Target="https://en.wikipedia.org/wiki/Arthropod" TargetMode="External"/><Relationship Id="rId4" Type="http://schemas.openxmlformats.org/officeDocument/2006/relationships/hyperlink" Target="https://en.wikipedia.org/wiki/Millipede#cite_note-2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mailto:cedric.lothritz@list.lu" TargetMode="Externa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FC9B8-0F59-8606-F786-10A5CF7D2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F4323DF-E9FF-FD92-9725-7522529F8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708360"/>
            <a:ext cx="8432255" cy="1421654"/>
          </a:xfrm>
        </p:spPr>
        <p:txBody>
          <a:bodyPr/>
          <a:lstStyle/>
          <a:p>
            <a:r>
              <a:rPr lang="en-IE" sz="4000" dirty="0"/>
              <a:t>Can ai pass the </a:t>
            </a:r>
            <a:r>
              <a:rPr lang="en-IE" sz="4000" dirty="0" err="1"/>
              <a:t>sproochentest</a:t>
            </a:r>
            <a:r>
              <a:rPr lang="en-IE" sz="4000" dirty="0"/>
              <a:t>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A28B67-3956-6440-35C6-DDB5421D4D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8776" y="2571750"/>
            <a:ext cx="8432189" cy="186339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Cédric </a:t>
            </a:r>
            <a:r>
              <a:rPr lang="en-US" dirty="0" err="1"/>
              <a:t>Lothritz</a:t>
            </a:r>
            <a:br>
              <a:rPr lang="en-US" dirty="0"/>
            </a:br>
            <a:endParaRPr lang="en-US" dirty="0"/>
          </a:p>
          <a:p>
            <a:pPr lvl="1"/>
            <a:r>
              <a:rPr lang="en-US" sz="1400" dirty="0">
                <a:solidFill>
                  <a:schemeClr val="accent1"/>
                </a:solidFill>
              </a:rPr>
              <a:t>Saturday, 13rd December, 2025</a:t>
            </a:r>
            <a:endParaRPr 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182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4AF3F-8679-8F92-A5E6-31F47025A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CCD28-2B0C-CE85-ADEF-864FEA202EE6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 dirty="0"/>
              <a:t>How do language models understand text?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20B405C-89E8-7C1D-BB7C-7D5AF7B8E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ebas Neue"/>
              </a:rPr>
              <a:t>Topic of the Talk</a:t>
            </a:r>
            <a:endParaRPr lang="en-US" dirty="0"/>
          </a:p>
        </p:txBody>
      </p:sp>
      <p:sp>
        <p:nvSpPr>
          <p:cNvPr id="29" name="Content Placeholder 5">
            <a:extLst>
              <a:ext uri="{FF2B5EF4-FFF2-40B4-BE49-F238E27FC236}">
                <a16:creationId xmlns:a16="http://schemas.microsoft.com/office/drawing/2014/main" id="{4535DB0B-392A-221D-1A9F-1256DCDCB7F7}"/>
              </a:ext>
            </a:extLst>
          </p:cNvPr>
          <p:cNvSpPr txBox="1">
            <a:spLocks/>
          </p:cNvSpPr>
          <p:nvPr/>
        </p:nvSpPr>
        <p:spPr>
          <a:xfrm>
            <a:off x="360947" y="1553702"/>
            <a:ext cx="8424000" cy="302425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1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  <a:cs typeface="Arial"/>
              </a:rPr>
              <a:t>How can we make words understandable to computers?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  <a:cs typeface="Arial"/>
              </a:rPr>
              <a:t>How do we know if a computer has mastered the language?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  <a:cs typeface="Arial"/>
              </a:rPr>
              <a:t>Can a computer pass the national language exam for Luxembourgish?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b="0" dirty="0">
              <a:solidFill>
                <a:srgbClr val="5379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84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5B2096A-1178-6D50-5F48-54EEFF000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animal pop quiz!</a:t>
            </a:r>
          </a:p>
        </p:txBody>
      </p:sp>
    </p:spTree>
    <p:extLst>
      <p:ext uri="{BB962C8B-B14F-4D97-AF65-F5344CB8AC3E}">
        <p14:creationId xmlns:p14="http://schemas.microsoft.com/office/powerpoint/2010/main" val="1696741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B2A5E-B995-4DB4-8B46-E11981446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08CB1E4-210B-DBA1-CE72-33A63DFD0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animal pop quiz!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28686B-6E28-F7E8-725B-B80F6870D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071"/>
            <a:ext cx="9144000" cy="449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353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7570F-3C3D-13E1-9D46-4C481345E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A610B16-DD6C-0224-7542-BFD859399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animal pop quiz!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93F88C-9B8A-3538-4F69-A4E1E8DF8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071"/>
            <a:ext cx="9144000" cy="449642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9DFD4E5-BE47-D6C5-8EA4-5CF18C2A4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080" y="1547566"/>
            <a:ext cx="3081654" cy="2405878"/>
          </a:xfrm>
          <a:prstGeom prst="rect">
            <a:avLst/>
          </a:pr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364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D04D7-25EF-84B0-3E12-0E7841674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3ADC12C-7DDF-B1BB-E4A3-C6386B317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animal pop quiz!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FEC769-E108-7F1F-DB52-3122F9E70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6222"/>
            <a:ext cx="9144000" cy="457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129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C8D85-1ED1-70AF-D375-9C790E4BC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458DE8E-CF40-0229-0D7B-B119A125E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animal pop quiz!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637EF7-D00F-C490-395F-47ECD6652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6222"/>
            <a:ext cx="9144000" cy="4575744"/>
          </a:xfrm>
          <a:prstGeom prst="rect">
            <a:avLst/>
          </a:prstGeom>
        </p:spPr>
      </p:pic>
      <p:pic>
        <p:nvPicPr>
          <p:cNvPr id="4" name="Picture 3" descr="A wolf walking in the snow&#10;&#10;AI-generated content may be incorrect.">
            <a:extLst>
              <a:ext uri="{FF2B5EF4-FFF2-40B4-BE49-F238E27FC236}">
                <a16:creationId xmlns:a16="http://schemas.microsoft.com/office/drawing/2014/main" id="{F0E624C5-23FE-862D-7664-E2B09D423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926" y="1550019"/>
            <a:ext cx="3695287" cy="2447423"/>
          </a:xfrm>
          <a:prstGeom prst="rect">
            <a:avLst/>
          </a:prstGeom>
          <a:noFill/>
          <a:ln w="31750">
            <a:solidFill>
              <a:srgbClr val="00000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77575A-F38E-7A4D-2F21-611A49FC5353}"/>
              </a:ext>
            </a:extLst>
          </p:cNvPr>
          <p:cNvSpPr txBox="1"/>
          <p:nvPr/>
        </p:nvSpPr>
        <p:spPr>
          <a:xfrm>
            <a:off x="4665633" y="3874331"/>
            <a:ext cx="1524000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 dirty="0"/>
              <a:t>© Jeff Lepore Photo Researchers</a:t>
            </a:r>
          </a:p>
          <a:p>
            <a:pPr algn="l"/>
            <a:endParaRPr lang="en-US" sz="8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0380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8FAF03F-95E3-89C7-78E7-8D489BB0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FF4D31B-FDAA-A044-6D59-E255CB860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Klengen</a:t>
            </a:r>
            <a:r>
              <a:rPr lang="en-US" dirty="0"/>
              <a:t> </a:t>
            </a:r>
            <a:r>
              <a:rPr lang="en-US" dirty="0" err="1"/>
              <a:t>DéiereQuiz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267C06-60D4-808D-5BE2-7BB513B44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885"/>
            <a:ext cx="9144000" cy="447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3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BC0A9-EF3B-00C9-9B2A-89CF967EF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DFB652B-E373-F3E2-C631-B62657AF9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animal pop quiz!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4DED85-6DDE-8E6E-9A24-22372F553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885"/>
            <a:ext cx="9144000" cy="44776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1AF855-0AE4-65F5-0D36-2628277F74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2" r="8859"/>
          <a:stretch>
            <a:fillRect/>
          </a:stretch>
        </p:blipFill>
        <p:spPr>
          <a:xfrm>
            <a:off x="2394433" y="1699259"/>
            <a:ext cx="4355134" cy="2515053"/>
          </a:xfrm>
          <a:prstGeom prst="rect">
            <a:avLst/>
          </a:prstGeom>
          <a:ln w="31750">
            <a:solidFill>
              <a:srgbClr val="00000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AA61BD-5B2C-3C6F-3D70-0BB43507177C}"/>
              </a:ext>
            </a:extLst>
          </p:cNvPr>
          <p:cNvSpPr txBox="1"/>
          <p:nvPr/>
        </p:nvSpPr>
        <p:spPr>
          <a:xfrm>
            <a:off x="2963375" y="2904692"/>
            <a:ext cx="1333631" cy="830997"/>
          </a:xfrm>
          <a:prstGeom prst="rect">
            <a:avLst/>
          </a:prstGeom>
          <a:noFill/>
          <a:effectLst>
            <a:outerShdw blurRad="190500" dist="38100" dir="2700000" algn="tl" rotWithShape="0">
              <a:prstClr val="black">
                <a:alpha val="8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4800" dirty="0"/>
              <a:t>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F0406-9EBC-7D5A-C9FC-7A797CADA5F2}"/>
              </a:ext>
            </a:extLst>
          </p:cNvPr>
          <p:cNvSpPr txBox="1"/>
          <p:nvPr/>
        </p:nvSpPr>
        <p:spPr>
          <a:xfrm>
            <a:off x="556043" y="3798814"/>
            <a:ext cx="1202871" cy="830997"/>
          </a:xfrm>
          <a:prstGeom prst="rect">
            <a:avLst/>
          </a:prstGeom>
          <a:noFill/>
          <a:effectLst>
            <a:outerShdw blurRad="190500" dist="38100" dir="2700000" algn="tl" rotWithShape="0">
              <a:prstClr val="black">
                <a:alpha val="8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4800" dirty="0"/>
              <a:t>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7C7BDB-6F73-F356-E442-E94E0936BFDB}"/>
              </a:ext>
            </a:extLst>
          </p:cNvPr>
          <p:cNvSpPr txBox="1"/>
          <p:nvPr/>
        </p:nvSpPr>
        <p:spPr>
          <a:xfrm>
            <a:off x="7857201" y="4062116"/>
            <a:ext cx="999671" cy="830997"/>
          </a:xfrm>
          <a:prstGeom prst="rect">
            <a:avLst/>
          </a:prstGeom>
          <a:noFill/>
          <a:effectLst>
            <a:outerShdw blurRad="190500" dist="38100" dir="2700000" algn="tl" rotWithShape="0">
              <a:prstClr val="black">
                <a:alpha val="8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4800" dirty="0"/>
              <a:t>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01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3DC39-AE99-9F05-65CB-3E7137B41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00F75-7802-22C3-1337-CDF67F396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latin typeface="Bebas Neue"/>
              </a:rPr>
              <a:t>How can we represent words?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B8A07-457A-25C4-1D8E-0CC0BF6E3791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IE" dirty="0"/>
              <a:t>What do you see when you think of an animal?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A3CAF3-62D5-AD05-E906-27890404C1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8475D8-1DA5-4EA1-65CE-288D45BB621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An image?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A description?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A list of features?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Or maybe a </a:t>
            </a:r>
            <a:br>
              <a:rPr lang="en-IE" b="0" dirty="0">
                <a:solidFill>
                  <a:srgbClr val="537992"/>
                </a:solidFill>
              </a:rPr>
            </a:br>
            <a:r>
              <a:rPr lang="en-IE" b="0" dirty="0">
                <a:solidFill>
                  <a:srgbClr val="537992"/>
                </a:solidFill>
              </a:rPr>
              <a:t>mathematical representation?</a:t>
            </a:r>
          </a:p>
        </p:txBody>
      </p:sp>
      <p:pic>
        <p:nvPicPr>
          <p:cNvPr id="7" name="Picture 6" descr="A black and white image of a centipede&#10;&#10;AI-generated content may be incorrect.">
            <a:extLst>
              <a:ext uri="{FF2B5EF4-FFF2-40B4-BE49-F238E27FC236}">
                <a16:creationId xmlns:a16="http://schemas.microsoft.com/office/drawing/2014/main" id="{455970D7-3654-6993-1012-04C16665F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49"/>
          <a:stretch>
            <a:fillRect/>
          </a:stretch>
        </p:blipFill>
        <p:spPr>
          <a:xfrm>
            <a:off x="6459338" y="1410890"/>
            <a:ext cx="2190585" cy="2304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A04A3C-B241-5941-F9E4-C9C50F45AB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58"/>
          <a:stretch>
            <a:fillRect/>
          </a:stretch>
        </p:blipFill>
        <p:spPr>
          <a:xfrm>
            <a:off x="1920239" y="1410891"/>
            <a:ext cx="2190585" cy="2268000"/>
          </a:xfrm>
          <a:prstGeom prst="rect">
            <a:avLst/>
          </a:prstGeom>
        </p:spPr>
      </p:pic>
      <p:pic>
        <p:nvPicPr>
          <p:cNvPr id="11" name="Picture 10" descr="A drawing of a dog&#10;&#10;AI-generated content may be incorrect.">
            <a:extLst>
              <a:ext uri="{FF2B5EF4-FFF2-40B4-BE49-F238E27FC236}">
                <a16:creationId xmlns:a16="http://schemas.microsoft.com/office/drawing/2014/main" id="{EE24F128-71A8-8321-1346-408425CF6B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788" y="1410890"/>
            <a:ext cx="2190585" cy="25556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0859599-8EC7-E31E-1390-5D7179375BE6}"/>
              </a:ext>
            </a:extLst>
          </p:cNvPr>
          <p:cNvSpPr txBox="1"/>
          <p:nvPr/>
        </p:nvSpPr>
        <p:spPr>
          <a:xfrm>
            <a:off x="4468806" y="3143090"/>
            <a:ext cx="2282562" cy="49244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 b="1" dirty="0"/>
              <a:t>Millipedes</a:t>
            </a:r>
            <a:r>
              <a:rPr lang="en-US" sz="800" dirty="0"/>
              <a:t> (originating from the </a:t>
            </a:r>
            <a:r>
              <a:rPr lang="en-US" sz="800" dirty="0">
                <a:hlinkClick r:id="rId5" tooltip="Latin"/>
              </a:rPr>
              <a:t>Latin</a:t>
            </a:r>
            <a:r>
              <a:rPr lang="en-US" sz="800" dirty="0"/>
              <a:t> </a:t>
            </a:r>
            <a:r>
              <a:rPr lang="en-US" sz="800" i="1" dirty="0" err="1"/>
              <a:t>mille</a:t>
            </a:r>
            <a:r>
              <a:rPr lang="en-US" sz="800" dirty="0"/>
              <a:t>, "thousand", and </a:t>
            </a:r>
            <a:r>
              <a:rPr lang="en-US" sz="800" i="1" dirty="0"/>
              <a:t>pes</a:t>
            </a:r>
            <a:r>
              <a:rPr lang="en-US" sz="800" dirty="0"/>
              <a:t>, "foot")</a:t>
            </a:r>
            <a:r>
              <a:rPr lang="en-US" sz="800" baseline="30000" dirty="0">
                <a:hlinkClick r:id="rId6"/>
              </a:rPr>
              <a:t>[1]</a:t>
            </a:r>
            <a:r>
              <a:rPr lang="en-US" sz="800" baseline="30000" dirty="0">
                <a:hlinkClick r:id="rId7"/>
              </a:rPr>
              <a:t>[2]</a:t>
            </a:r>
            <a:r>
              <a:rPr lang="en-US" sz="800" dirty="0"/>
              <a:t> are a group of </a:t>
            </a:r>
            <a:r>
              <a:rPr lang="en-US" sz="800" dirty="0">
                <a:hlinkClick r:id="rId8" tooltip="Arthropod"/>
              </a:rPr>
              <a:t>arthropods</a:t>
            </a:r>
            <a:r>
              <a:rPr lang="en-US" sz="800" dirty="0"/>
              <a:t> that are </a:t>
            </a:r>
            <a:r>
              <a:rPr lang="en-US" sz="800" dirty="0" err="1"/>
              <a:t>characterised</a:t>
            </a:r>
            <a:r>
              <a:rPr lang="en-US" sz="800" dirty="0"/>
              <a:t> by having two pairs of jointed </a:t>
            </a:r>
            <a:r>
              <a:rPr lang="en-US" sz="800" dirty="0">
                <a:hlinkClick r:id="rId9" tooltip="Arthropod leg"/>
              </a:rPr>
              <a:t>legs</a:t>
            </a:r>
            <a:r>
              <a:rPr lang="en-US" sz="800" dirty="0"/>
              <a:t> on most body segments.</a:t>
            </a:r>
            <a:endParaRPr lang="en-US" sz="8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03AD61-F590-735D-7CA2-B2B9B695776E}"/>
              </a:ext>
            </a:extLst>
          </p:cNvPr>
          <p:cNvSpPr txBox="1"/>
          <p:nvPr/>
        </p:nvSpPr>
        <p:spPr>
          <a:xfrm flipH="1">
            <a:off x="4468871" y="1573430"/>
            <a:ext cx="2261871" cy="61555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 dirty="0"/>
              <a:t>The </a:t>
            </a:r>
            <a:r>
              <a:rPr lang="en-US" sz="800" b="1" dirty="0"/>
              <a:t>dog</a:t>
            </a:r>
            <a:r>
              <a:rPr lang="en-US" sz="800" dirty="0"/>
              <a:t> (</a:t>
            </a:r>
            <a:r>
              <a:rPr lang="en-US" sz="800" b="1" i="1" dirty="0"/>
              <a:t>Canis </a:t>
            </a:r>
            <a:r>
              <a:rPr lang="en-US" sz="800" b="1" i="1" dirty="0" err="1"/>
              <a:t>familiaris</a:t>
            </a:r>
            <a:r>
              <a:rPr lang="en-US" sz="800" dirty="0"/>
              <a:t> or </a:t>
            </a:r>
            <a:r>
              <a:rPr lang="en-US" sz="800" b="1" i="1" dirty="0"/>
              <a:t>Canis lupus </a:t>
            </a:r>
            <a:r>
              <a:rPr lang="en-US" sz="800" b="1" i="1" dirty="0" err="1"/>
              <a:t>familiaris</a:t>
            </a:r>
            <a:r>
              <a:rPr lang="en-US" sz="800" dirty="0"/>
              <a:t>) is a </a:t>
            </a:r>
            <a:r>
              <a:rPr lang="en-US" sz="800" dirty="0">
                <a:hlinkClick r:id="rId10" tooltip="Domestication of vertebrates"/>
              </a:rPr>
              <a:t>domesticated</a:t>
            </a:r>
            <a:r>
              <a:rPr lang="en-US" sz="800" dirty="0"/>
              <a:t> descendant of the </a:t>
            </a:r>
            <a:r>
              <a:rPr lang="en-US" sz="800" dirty="0">
                <a:hlinkClick r:id="rId11" tooltip="Gray wolf"/>
              </a:rPr>
              <a:t>gray wolf</a:t>
            </a:r>
            <a:r>
              <a:rPr lang="en-US" sz="800" dirty="0"/>
              <a:t>. Also called the </a:t>
            </a:r>
            <a:r>
              <a:rPr lang="en-US" sz="800" b="1" dirty="0"/>
              <a:t>domestic dog</a:t>
            </a:r>
            <a:r>
              <a:rPr lang="en-US" sz="800" dirty="0"/>
              <a:t>, it was </a:t>
            </a:r>
            <a:r>
              <a:rPr lang="en-US" sz="800" dirty="0">
                <a:hlinkClick r:id="rId12" tooltip="Selective breeding"/>
              </a:rPr>
              <a:t>selectively bred</a:t>
            </a:r>
            <a:r>
              <a:rPr lang="en-US" sz="800" dirty="0"/>
              <a:t> from a population of wolves</a:t>
            </a:r>
          </a:p>
          <a:p>
            <a:endParaRPr lang="en-US" sz="8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78C016-AFD2-C2C3-85E0-8865FD5C38DB}"/>
              </a:ext>
            </a:extLst>
          </p:cNvPr>
          <p:cNvSpPr txBox="1"/>
          <p:nvPr/>
        </p:nvSpPr>
        <p:spPr>
          <a:xfrm flipH="1">
            <a:off x="4468806" y="2361607"/>
            <a:ext cx="2261870" cy="61555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 dirty="0"/>
              <a:t>The </a:t>
            </a:r>
            <a:r>
              <a:rPr lang="en-US" sz="800" b="1" dirty="0"/>
              <a:t>wolf</a:t>
            </a:r>
            <a:r>
              <a:rPr lang="en-US" sz="800" dirty="0"/>
              <a:t> (</a:t>
            </a:r>
            <a:r>
              <a:rPr lang="en-US" sz="800" b="1" i="1" dirty="0"/>
              <a:t>Canis lupus</a:t>
            </a:r>
            <a:r>
              <a:rPr lang="en-US" sz="800" dirty="0"/>
              <a:t>;</a:t>
            </a:r>
            <a:r>
              <a:rPr lang="en-US" sz="800" baseline="30000" dirty="0"/>
              <a:t>[b] </a:t>
            </a:r>
            <a:r>
              <a:rPr lang="en-US" sz="800" dirty="0"/>
              <a:t>pl.: </a:t>
            </a:r>
            <a:r>
              <a:rPr lang="en-US" sz="800" b="1" dirty="0"/>
              <a:t>wolves</a:t>
            </a:r>
            <a:r>
              <a:rPr lang="en-US" sz="800" dirty="0"/>
              <a:t>), also known as the </a:t>
            </a:r>
            <a:r>
              <a:rPr lang="en-US" sz="800" b="1" dirty="0"/>
              <a:t>grey wolf </a:t>
            </a:r>
            <a:r>
              <a:rPr lang="en-US" sz="800" dirty="0"/>
              <a:t>or </a:t>
            </a:r>
            <a:r>
              <a:rPr lang="en-US" sz="800" b="1" dirty="0"/>
              <a:t>gray wolf</a:t>
            </a:r>
            <a:r>
              <a:rPr lang="en-US" sz="800" dirty="0"/>
              <a:t>, is a </a:t>
            </a:r>
            <a:r>
              <a:rPr lang="en-US" sz="800" u="sng" dirty="0">
                <a:solidFill>
                  <a:srgbClr val="00B0F0"/>
                </a:solidFill>
              </a:rPr>
              <a:t>canine</a:t>
            </a:r>
            <a:r>
              <a:rPr lang="en-US" sz="800" dirty="0"/>
              <a:t> native to </a:t>
            </a:r>
            <a:r>
              <a:rPr lang="en-US" sz="800" u="sng" dirty="0">
                <a:solidFill>
                  <a:srgbClr val="00B0F0"/>
                </a:solidFill>
              </a:rPr>
              <a:t>Eurasia</a:t>
            </a:r>
            <a:r>
              <a:rPr lang="en-US" sz="800" dirty="0"/>
              <a:t> and </a:t>
            </a:r>
            <a:r>
              <a:rPr lang="en-US" sz="800" u="sng" dirty="0">
                <a:solidFill>
                  <a:srgbClr val="00B0F0"/>
                </a:solidFill>
              </a:rPr>
              <a:t>North America</a:t>
            </a:r>
            <a:r>
              <a:rPr lang="en-US" sz="800" dirty="0"/>
              <a:t>. More than thirty </a:t>
            </a:r>
            <a:r>
              <a:rPr lang="en-US" sz="800" u="sng" dirty="0">
                <a:solidFill>
                  <a:srgbClr val="00B0F0"/>
                </a:solidFill>
              </a:rPr>
              <a:t>subspecies</a:t>
            </a:r>
            <a:r>
              <a:rPr lang="en-US" sz="800" u="sng" dirty="0"/>
              <a:t> </a:t>
            </a:r>
            <a:r>
              <a:rPr lang="en-US" sz="800" u="sng" dirty="0">
                <a:solidFill>
                  <a:srgbClr val="00B0F0"/>
                </a:solidFill>
              </a:rPr>
              <a:t>of</a:t>
            </a:r>
            <a:r>
              <a:rPr lang="en-US" sz="800" u="sng" dirty="0"/>
              <a:t> </a:t>
            </a:r>
            <a:r>
              <a:rPr lang="en-US" sz="800" i="1" u="sng" dirty="0">
                <a:solidFill>
                  <a:srgbClr val="00B0F0"/>
                </a:solidFill>
              </a:rPr>
              <a:t>Canis lupus </a:t>
            </a:r>
            <a:r>
              <a:rPr lang="en-US" sz="800" dirty="0"/>
              <a:t>have been recognized, including the </a:t>
            </a:r>
            <a:r>
              <a:rPr lang="en-US" sz="800" u="sng" dirty="0">
                <a:solidFill>
                  <a:srgbClr val="00B0F0"/>
                </a:solidFill>
              </a:rPr>
              <a:t>dog</a:t>
            </a:r>
            <a:r>
              <a:rPr lang="en-US" sz="800" dirty="0"/>
              <a:t> and </a:t>
            </a:r>
            <a:r>
              <a:rPr lang="en-US" sz="800" u="sng" dirty="0">
                <a:solidFill>
                  <a:srgbClr val="00B0F0"/>
                </a:solidFill>
              </a:rPr>
              <a:t>dingo</a:t>
            </a:r>
            <a:endParaRPr lang="en-US" sz="800" u="sng" dirty="0">
              <a:solidFill>
                <a:srgbClr val="00B0F0"/>
              </a:solidFill>
              <a:latin typeface="+mn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D894EA-E3CC-D4BD-74B4-9ECE8226641D}"/>
              </a:ext>
            </a:extLst>
          </p:cNvPr>
          <p:cNvSpPr txBox="1"/>
          <p:nvPr/>
        </p:nvSpPr>
        <p:spPr>
          <a:xfrm>
            <a:off x="4468806" y="1590267"/>
            <a:ext cx="1725608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800" b="1" dirty="0"/>
              <a:t>Class</a:t>
            </a:r>
            <a:r>
              <a:rPr lang="en-US" sz="800" dirty="0"/>
              <a:t>: Mammal</a:t>
            </a:r>
          </a:p>
          <a:p>
            <a:pPr algn="l"/>
            <a:r>
              <a:rPr lang="en-US" sz="800" b="1" dirty="0">
                <a:latin typeface="+mn-lt"/>
              </a:rPr>
              <a:t>Diet</a:t>
            </a:r>
            <a:r>
              <a:rPr lang="en-US" sz="800" dirty="0"/>
              <a:t>: Carnivorous</a:t>
            </a:r>
          </a:p>
          <a:p>
            <a:pPr algn="l"/>
            <a:r>
              <a:rPr lang="en-US" sz="800" b="1" dirty="0">
                <a:latin typeface="+mn-lt"/>
              </a:rPr>
              <a:t>Life span</a:t>
            </a:r>
            <a:r>
              <a:rPr lang="en-US" sz="800" dirty="0"/>
              <a:t>: 10-15 years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E97E88-98A0-589D-9236-F665C204A9B2}"/>
              </a:ext>
            </a:extLst>
          </p:cNvPr>
          <p:cNvSpPr txBox="1"/>
          <p:nvPr/>
        </p:nvSpPr>
        <p:spPr>
          <a:xfrm>
            <a:off x="4468806" y="2351522"/>
            <a:ext cx="1725608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 b="1" dirty="0"/>
              <a:t>Class</a:t>
            </a:r>
            <a:r>
              <a:rPr lang="en-US" sz="800" dirty="0"/>
              <a:t>: Mammal</a:t>
            </a:r>
          </a:p>
          <a:p>
            <a:r>
              <a:rPr lang="en-US" sz="800" b="1" dirty="0"/>
              <a:t>Diet</a:t>
            </a:r>
            <a:r>
              <a:rPr lang="en-US" sz="800" dirty="0"/>
              <a:t>: Carnivorous</a:t>
            </a:r>
          </a:p>
          <a:p>
            <a:r>
              <a:rPr lang="en-US" sz="800" b="1" dirty="0"/>
              <a:t>Life span</a:t>
            </a:r>
            <a:r>
              <a:rPr lang="en-US" sz="800" dirty="0"/>
              <a:t>: 6-8 years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78A8BD-4046-05C2-DD9E-13CF33564276}"/>
              </a:ext>
            </a:extLst>
          </p:cNvPr>
          <p:cNvSpPr txBox="1"/>
          <p:nvPr/>
        </p:nvSpPr>
        <p:spPr>
          <a:xfrm>
            <a:off x="4468806" y="3149784"/>
            <a:ext cx="1725608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800" b="1" dirty="0"/>
              <a:t>Class</a:t>
            </a:r>
            <a:r>
              <a:rPr lang="en-US" sz="800" dirty="0"/>
              <a:t>: </a:t>
            </a:r>
            <a:r>
              <a:rPr lang="en-US" sz="800" dirty="0" err="1"/>
              <a:t>Diplopode</a:t>
            </a:r>
            <a:endParaRPr lang="en-US" sz="800" dirty="0"/>
          </a:p>
          <a:p>
            <a:pPr algn="l"/>
            <a:r>
              <a:rPr lang="en-US" sz="800" b="1" dirty="0"/>
              <a:t>Diet</a:t>
            </a:r>
            <a:r>
              <a:rPr lang="en-US" sz="800" dirty="0"/>
              <a:t>: </a:t>
            </a:r>
            <a:r>
              <a:rPr lang="en-US" sz="800" dirty="0" err="1"/>
              <a:t>Detrivorous</a:t>
            </a:r>
            <a:endParaRPr lang="en-US" sz="800" dirty="0"/>
          </a:p>
          <a:p>
            <a:pPr algn="l"/>
            <a:r>
              <a:rPr lang="en-US" sz="800" b="1" dirty="0">
                <a:latin typeface="+mn-lt"/>
              </a:rPr>
              <a:t>Life span</a:t>
            </a:r>
            <a:r>
              <a:rPr lang="en-US" sz="800" dirty="0"/>
              <a:t>: 5-10 years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D6A034-4F85-F66B-173C-6A10AD041363}"/>
              </a:ext>
            </a:extLst>
          </p:cNvPr>
          <p:cNvSpPr txBox="1"/>
          <p:nvPr/>
        </p:nvSpPr>
        <p:spPr>
          <a:xfrm>
            <a:off x="4909871" y="1881207"/>
            <a:ext cx="1161907" cy="1769715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1500" b="1" dirty="0">
                <a:latin typeface="+mn-lt"/>
              </a:rPr>
              <a:t>?</a:t>
            </a:r>
            <a:endParaRPr lang="en-US" sz="5400" b="1" dirty="0">
              <a:latin typeface="+mn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75675D-650F-2B80-05D2-D389FF09893B}"/>
              </a:ext>
            </a:extLst>
          </p:cNvPr>
          <p:cNvSpPr txBox="1"/>
          <p:nvPr/>
        </p:nvSpPr>
        <p:spPr>
          <a:xfrm>
            <a:off x="4947202" y="3779748"/>
            <a:ext cx="1172924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900" dirty="0"/>
              <a:t>© Wikipedia</a:t>
            </a:r>
            <a:endParaRPr lang="en-US" sz="9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100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12" grpId="0"/>
      <p:bldP spid="12" grpId="1"/>
      <p:bldP spid="13" grpId="0"/>
      <p:bldP spid="13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7" grpId="0"/>
      <p:bldP spid="2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6B3EC-2C25-1517-558E-2A5947871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31221-3A48-8887-D08C-8967F33EC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latin typeface="Bebas Neue"/>
              </a:rPr>
              <a:t>How can we represent words?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EF44F-87F4-7170-1206-08DBFFBD6036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IE" dirty="0"/>
              <a:t>Let’s categorise animals in a numerical way!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3A074D-D19F-ABB0-9B5E-AE27C6192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EB3ACA-65F2-F2E9-C996-81DA097640E8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Size: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Number of legs: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Life span: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947D87D-B752-4141-2C11-2793F8625606}"/>
              </a:ext>
            </a:extLst>
          </p:cNvPr>
          <p:cNvCxnSpPr>
            <a:cxnSpLocks/>
          </p:cNvCxnSpPr>
          <p:nvPr/>
        </p:nvCxnSpPr>
        <p:spPr>
          <a:xfrm>
            <a:off x="2440693" y="3266775"/>
            <a:ext cx="505326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B451F14-A62B-6718-C5E0-D4FD07E27342}"/>
              </a:ext>
            </a:extLst>
          </p:cNvPr>
          <p:cNvSpPr txBox="1"/>
          <p:nvPr/>
        </p:nvSpPr>
        <p:spPr>
          <a:xfrm>
            <a:off x="2440693" y="3355378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0</a:t>
            </a:r>
            <a:endParaRPr lang="en-US" sz="800" b="1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CF0FA9-D63B-EF7A-DB31-51525603444E}"/>
              </a:ext>
            </a:extLst>
          </p:cNvPr>
          <p:cNvSpPr txBox="1"/>
          <p:nvPr/>
        </p:nvSpPr>
        <p:spPr>
          <a:xfrm>
            <a:off x="7267076" y="3355378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30</a:t>
            </a:r>
            <a:endParaRPr lang="en-US" sz="800" b="1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3A44B9-418A-2384-D95E-25A0B86B12F4}"/>
              </a:ext>
            </a:extLst>
          </p:cNvPr>
          <p:cNvSpPr txBox="1"/>
          <p:nvPr/>
        </p:nvSpPr>
        <p:spPr>
          <a:xfrm>
            <a:off x="4572000" y="3355378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900" b="1" dirty="0" err="1">
                <a:latin typeface="+mn-lt"/>
              </a:rPr>
              <a:t>Metres</a:t>
            </a:r>
            <a:endParaRPr lang="en-US" sz="900" b="1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ED567F-70BF-463B-DC74-2E3C687EE018}"/>
              </a:ext>
            </a:extLst>
          </p:cNvPr>
          <p:cNvSpPr txBox="1"/>
          <p:nvPr/>
        </p:nvSpPr>
        <p:spPr>
          <a:xfrm>
            <a:off x="2370589" y="2834641"/>
            <a:ext cx="246862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Snail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081539-43AB-A5C9-DD13-248CDCA51468}"/>
              </a:ext>
            </a:extLst>
          </p:cNvPr>
          <p:cNvSpPr txBox="1"/>
          <p:nvPr/>
        </p:nvSpPr>
        <p:spPr>
          <a:xfrm>
            <a:off x="2424289" y="2651841"/>
            <a:ext cx="440826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Millipede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FF5784-4238-E12D-9674-AF19DA91D33F}"/>
              </a:ext>
            </a:extLst>
          </p:cNvPr>
          <p:cNvSpPr txBox="1"/>
          <p:nvPr/>
        </p:nvSpPr>
        <p:spPr>
          <a:xfrm>
            <a:off x="5525162" y="2889766"/>
            <a:ext cx="496931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Anaconda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174DEC-3675-D966-8501-399D9F4AF2B5}"/>
              </a:ext>
            </a:extLst>
          </p:cNvPr>
          <p:cNvSpPr txBox="1"/>
          <p:nvPr/>
        </p:nvSpPr>
        <p:spPr>
          <a:xfrm>
            <a:off x="2843042" y="2282818"/>
            <a:ext cx="209805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Cat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FF23CC-59B5-CF56-DA48-C9743FB89849}"/>
              </a:ext>
            </a:extLst>
          </p:cNvPr>
          <p:cNvSpPr txBox="1"/>
          <p:nvPr/>
        </p:nvSpPr>
        <p:spPr>
          <a:xfrm>
            <a:off x="3052847" y="2388999"/>
            <a:ext cx="198772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Dog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408963-F75A-3406-20F7-60E92C884D32}"/>
              </a:ext>
            </a:extLst>
          </p:cNvPr>
          <p:cNvSpPr txBox="1"/>
          <p:nvPr/>
        </p:nvSpPr>
        <p:spPr>
          <a:xfrm>
            <a:off x="2901363" y="2508280"/>
            <a:ext cx="182742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Fox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DFCB44-9907-A1DE-A9BB-E6AB5990FB61}"/>
              </a:ext>
            </a:extLst>
          </p:cNvPr>
          <p:cNvSpPr txBox="1"/>
          <p:nvPr/>
        </p:nvSpPr>
        <p:spPr>
          <a:xfrm>
            <a:off x="3286915" y="2581244"/>
            <a:ext cx="221214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Wolf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0E83C7-B331-FB2E-5F74-F9DA6DAE87FD}"/>
              </a:ext>
            </a:extLst>
          </p:cNvPr>
          <p:cNvSpPr txBox="1"/>
          <p:nvPr/>
        </p:nvSpPr>
        <p:spPr>
          <a:xfrm>
            <a:off x="7093843" y="2828211"/>
            <a:ext cx="538609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Blue whale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D1777-7B32-B4DA-3E55-79C5FDB2D627}"/>
              </a:ext>
            </a:extLst>
          </p:cNvPr>
          <p:cNvSpPr txBox="1"/>
          <p:nvPr/>
        </p:nvSpPr>
        <p:spPr>
          <a:xfrm>
            <a:off x="5086268" y="2682569"/>
            <a:ext cx="583493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White shark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E1E14A-2361-E486-2D8D-8B53E879273B}"/>
              </a:ext>
            </a:extLst>
          </p:cNvPr>
          <p:cNvSpPr txBox="1"/>
          <p:nvPr/>
        </p:nvSpPr>
        <p:spPr>
          <a:xfrm>
            <a:off x="3155991" y="3355378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1</a:t>
            </a:r>
            <a:endParaRPr lang="en-US" sz="800" b="1" dirty="0"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676F22-9C55-295E-133F-66E578E1A8F0}"/>
              </a:ext>
            </a:extLst>
          </p:cNvPr>
          <p:cNvSpPr txBox="1"/>
          <p:nvPr/>
        </p:nvSpPr>
        <p:spPr>
          <a:xfrm>
            <a:off x="3464582" y="2820840"/>
            <a:ext cx="556243" cy="24622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ctr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Galapagos </a:t>
            </a:r>
            <a:b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Tortoise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F7452B-5938-4DCD-9B6E-BBBDA59407D8}"/>
              </a:ext>
            </a:extLst>
          </p:cNvPr>
          <p:cNvSpPr txBox="1"/>
          <p:nvPr/>
        </p:nvSpPr>
        <p:spPr>
          <a:xfrm>
            <a:off x="3871289" y="3355378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E8AEB6-F864-18B8-9A2B-CA58BDBBCBB8}"/>
              </a:ext>
            </a:extLst>
          </p:cNvPr>
          <p:cNvSpPr txBox="1"/>
          <p:nvPr/>
        </p:nvSpPr>
        <p:spPr>
          <a:xfrm>
            <a:off x="5562308" y="3355378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5</a:t>
            </a:r>
            <a:endParaRPr lang="en-US" sz="800" b="1" dirty="0">
              <a:latin typeface="+mn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3A60FF-CE1E-7714-05D4-3D72B0729648}"/>
              </a:ext>
            </a:extLst>
          </p:cNvPr>
          <p:cNvSpPr txBox="1"/>
          <p:nvPr/>
        </p:nvSpPr>
        <p:spPr>
          <a:xfrm>
            <a:off x="2843041" y="2900372"/>
            <a:ext cx="209805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Ara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8EB39A8-F11E-29B2-32AB-5B3362F139BB}"/>
              </a:ext>
            </a:extLst>
          </p:cNvPr>
          <p:cNvCxnSpPr>
            <a:stCxn id="12" idx="2"/>
          </p:cNvCxnSpPr>
          <p:nvPr/>
        </p:nvCxnSpPr>
        <p:spPr>
          <a:xfrm>
            <a:off x="2494020" y="2957752"/>
            <a:ext cx="72135" cy="309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631B794-D461-991F-4173-4EA479A61390}"/>
              </a:ext>
            </a:extLst>
          </p:cNvPr>
          <p:cNvCxnSpPr>
            <a:stCxn id="13" idx="2"/>
          </p:cNvCxnSpPr>
          <p:nvPr/>
        </p:nvCxnSpPr>
        <p:spPr>
          <a:xfrm>
            <a:off x="2644702" y="2774952"/>
            <a:ext cx="117019" cy="4918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C172119-07F2-1979-071C-6AC264AA8DBF}"/>
              </a:ext>
            </a:extLst>
          </p:cNvPr>
          <p:cNvCxnSpPr>
            <a:stCxn id="15" idx="2"/>
          </p:cNvCxnSpPr>
          <p:nvPr/>
        </p:nvCxnSpPr>
        <p:spPr>
          <a:xfrm flipH="1">
            <a:off x="2947943" y="2405929"/>
            <a:ext cx="2" cy="8608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B2EA19E-8AD3-7641-6F4D-91811B3D9302}"/>
              </a:ext>
            </a:extLst>
          </p:cNvPr>
          <p:cNvCxnSpPr>
            <a:cxnSpLocks/>
          </p:cNvCxnSpPr>
          <p:nvPr/>
        </p:nvCxnSpPr>
        <p:spPr>
          <a:xfrm>
            <a:off x="2901363" y="2954299"/>
            <a:ext cx="0" cy="3159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4BE5752-AB4D-32B5-C860-1109DDAE37BC}"/>
              </a:ext>
            </a:extLst>
          </p:cNvPr>
          <p:cNvCxnSpPr>
            <a:stCxn id="17" idx="2"/>
          </p:cNvCxnSpPr>
          <p:nvPr/>
        </p:nvCxnSpPr>
        <p:spPr>
          <a:xfrm>
            <a:off x="2992734" y="2631391"/>
            <a:ext cx="60112" cy="635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0ADCD0F-CA5C-06B3-67BD-5412605E49C4}"/>
              </a:ext>
            </a:extLst>
          </p:cNvPr>
          <p:cNvCxnSpPr>
            <a:stCxn id="16" idx="2"/>
          </p:cNvCxnSpPr>
          <p:nvPr/>
        </p:nvCxnSpPr>
        <p:spPr>
          <a:xfrm>
            <a:off x="3152233" y="2512110"/>
            <a:ext cx="31259" cy="754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4D867DC-6240-13D1-F2C6-DE0242CD9E51}"/>
              </a:ext>
            </a:extLst>
          </p:cNvPr>
          <p:cNvCxnSpPr>
            <a:stCxn id="18" idx="2"/>
          </p:cNvCxnSpPr>
          <p:nvPr/>
        </p:nvCxnSpPr>
        <p:spPr>
          <a:xfrm>
            <a:off x="3397522" y="2704355"/>
            <a:ext cx="46947" cy="5624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C3A2AB4-D63F-49F0-3E7C-A16F81AF07D4}"/>
              </a:ext>
            </a:extLst>
          </p:cNvPr>
          <p:cNvCxnSpPr>
            <a:stCxn id="22" idx="2"/>
          </p:cNvCxnSpPr>
          <p:nvPr/>
        </p:nvCxnSpPr>
        <p:spPr>
          <a:xfrm>
            <a:off x="3742704" y="3067061"/>
            <a:ext cx="18024" cy="1997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3A58087-C380-140B-78AA-892F77528192}"/>
              </a:ext>
            </a:extLst>
          </p:cNvPr>
          <p:cNvCxnSpPr>
            <a:stCxn id="20" idx="2"/>
          </p:cNvCxnSpPr>
          <p:nvPr/>
        </p:nvCxnSpPr>
        <p:spPr>
          <a:xfrm>
            <a:off x="5378015" y="2805680"/>
            <a:ext cx="12022" cy="4610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75B41C3-35FF-7419-52B3-EE931777861F}"/>
              </a:ext>
            </a:extLst>
          </p:cNvPr>
          <p:cNvCxnSpPr>
            <a:stCxn id="14" idx="2"/>
          </p:cNvCxnSpPr>
          <p:nvPr/>
        </p:nvCxnSpPr>
        <p:spPr>
          <a:xfrm>
            <a:off x="5773628" y="3012877"/>
            <a:ext cx="44257" cy="2539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40061A7-21DE-7A2D-C91B-45028D878715}"/>
              </a:ext>
            </a:extLst>
          </p:cNvPr>
          <p:cNvCxnSpPr>
            <a:stCxn id="19" idx="2"/>
          </p:cNvCxnSpPr>
          <p:nvPr/>
        </p:nvCxnSpPr>
        <p:spPr>
          <a:xfrm flipH="1">
            <a:off x="7267076" y="2951322"/>
            <a:ext cx="96072" cy="315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C9AE282-9744-18A4-32C2-0AD825B5576E}"/>
              </a:ext>
            </a:extLst>
          </p:cNvPr>
          <p:cNvCxnSpPr>
            <a:cxnSpLocks/>
          </p:cNvCxnSpPr>
          <p:nvPr/>
        </p:nvCxnSpPr>
        <p:spPr>
          <a:xfrm flipV="1">
            <a:off x="2440693" y="1410891"/>
            <a:ext cx="0" cy="31420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A1D6AFA-BCA7-ECF5-DAE5-00509775E0E9}"/>
              </a:ext>
            </a:extLst>
          </p:cNvPr>
          <p:cNvSpPr txBox="1"/>
          <p:nvPr/>
        </p:nvSpPr>
        <p:spPr>
          <a:xfrm rot="5400000">
            <a:off x="1872512" y="3294389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900" b="1" dirty="0">
                <a:latin typeface="+mn-lt"/>
              </a:rPr>
              <a:t>Number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4AE45D-2F69-9D66-E0AB-42438343F37A}"/>
              </a:ext>
            </a:extLst>
          </p:cNvPr>
          <p:cNvSpPr txBox="1"/>
          <p:nvPr/>
        </p:nvSpPr>
        <p:spPr>
          <a:xfrm rot="5400000">
            <a:off x="2242107" y="4527307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0</a:t>
            </a:r>
            <a:endParaRPr lang="en-US" sz="800" b="1" dirty="0">
              <a:latin typeface="+mn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A618962-5D3F-A3C3-6059-6EE506CAE035}"/>
              </a:ext>
            </a:extLst>
          </p:cNvPr>
          <p:cNvSpPr txBox="1"/>
          <p:nvPr/>
        </p:nvSpPr>
        <p:spPr>
          <a:xfrm rot="5400000">
            <a:off x="2128685" y="1443237"/>
            <a:ext cx="329919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100+</a:t>
            </a:r>
            <a:endParaRPr lang="en-US" sz="800" b="1" dirty="0">
              <a:latin typeface="+mn-lt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8ED240-93EB-5487-DCFA-8EAD73515EA0}"/>
              </a:ext>
            </a:extLst>
          </p:cNvPr>
          <p:cNvSpPr txBox="1"/>
          <p:nvPr/>
        </p:nvSpPr>
        <p:spPr>
          <a:xfrm rot="5400000">
            <a:off x="2242107" y="4289468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1</a:t>
            </a:r>
            <a:endParaRPr lang="en-US" sz="800" b="1" dirty="0">
              <a:latin typeface="+mn-lt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AC6B26-9B31-737D-2C0F-467D94AD1658}"/>
              </a:ext>
            </a:extLst>
          </p:cNvPr>
          <p:cNvSpPr txBox="1"/>
          <p:nvPr/>
        </p:nvSpPr>
        <p:spPr>
          <a:xfrm rot="5400000">
            <a:off x="2257148" y="4052372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23DA8E2-12FD-02CB-E91E-14B7D9CDE073}"/>
              </a:ext>
            </a:extLst>
          </p:cNvPr>
          <p:cNvSpPr txBox="1"/>
          <p:nvPr/>
        </p:nvSpPr>
        <p:spPr>
          <a:xfrm rot="5400000">
            <a:off x="2226299" y="3437646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4</a:t>
            </a:r>
            <a:endParaRPr lang="en-US" sz="800" b="1" dirty="0">
              <a:latin typeface="+mn-lt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74500D6-CA51-CB14-19C9-24C9A81F8274}"/>
              </a:ext>
            </a:extLst>
          </p:cNvPr>
          <p:cNvSpPr/>
          <p:nvPr/>
        </p:nvSpPr>
        <p:spPr>
          <a:xfrm>
            <a:off x="2523177" y="4270663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C4BB854-B012-A434-66A3-4E2EFBB31E3E}"/>
              </a:ext>
            </a:extLst>
          </p:cNvPr>
          <p:cNvSpPr/>
          <p:nvPr/>
        </p:nvSpPr>
        <p:spPr>
          <a:xfrm>
            <a:off x="5359080" y="4526517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92CCA88-A088-236B-8384-32C3F46CE866}"/>
              </a:ext>
            </a:extLst>
          </p:cNvPr>
          <p:cNvSpPr/>
          <p:nvPr/>
        </p:nvSpPr>
        <p:spPr>
          <a:xfrm>
            <a:off x="2911735" y="3447511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C8CFDD8-3E90-DAAE-0F83-9ED401B656D3}"/>
              </a:ext>
            </a:extLst>
          </p:cNvPr>
          <p:cNvSpPr/>
          <p:nvPr/>
        </p:nvSpPr>
        <p:spPr>
          <a:xfrm>
            <a:off x="3018170" y="3447511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ADF3B84D-149B-1FFA-DEE4-D7FB7481CDF9}"/>
              </a:ext>
            </a:extLst>
          </p:cNvPr>
          <p:cNvSpPr/>
          <p:nvPr/>
        </p:nvSpPr>
        <p:spPr>
          <a:xfrm>
            <a:off x="3155991" y="3441898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4812B1B-E38E-6A7F-2E7D-FCD9BECFDDBC}"/>
              </a:ext>
            </a:extLst>
          </p:cNvPr>
          <p:cNvSpPr/>
          <p:nvPr/>
        </p:nvSpPr>
        <p:spPr>
          <a:xfrm>
            <a:off x="3416522" y="3434754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98CC198-FE4B-93D2-A6CE-6200134DB2F7}"/>
              </a:ext>
            </a:extLst>
          </p:cNvPr>
          <p:cNvSpPr/>
          <p:nvPr/>
        </p:nvSpPr>
        <p:spPr>
          <a:xfrm>
            <a:off x="3713812" y="3441897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90B4562-172A-37FA-0C4C-DE3685F88BFB}"/>
              </a:ext>
            </a:extLst>
          </p:cNvPr>
          <p:cNvSpPr/>
          <p:nvPr/>
        </p:nvSpPr>
        <p:spPr>
          <a:xfrm>
            <a:off x="2918165" y="4015902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CFF9DFA-BB16-3553-5307-7302269FB577}"/>
              </a:ext>
            </a:extLst>
          </p:cNvPr>
          <p:cNvSpPr/>
          <p:nvPr/>
        </p:nvSpPr>
        <p:spPr>
          <a:xfrm>
            <a:off x="5742670" y="4523657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005AFAAD-F5FE-7200-8C35-98182BFDC5E4}"/>
              </a:ext>
            </a:extLst>
          </p:cNvPr>
          <p:cNvSpPr/>
          <p:nvPr/>
        </p:nvSpPr>
        <p:spPr>
          <a:xfrm>
            <a:off x="7197841" y="4521215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83BDDFB-1D5E-3666-FD25-70DFEEE31BE4}"/>
              </a:ext>
            </a:extLst>
          </p:cNvPr>
          <p:cNvSpPr/>
          <p:nvPr/>
        </p:nvSpPr>
        <p:spPr>
          <a:xfrm>
            <a:off x="2730764" y="1445689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5799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81481E-6 L 8.33333E-7 0.25 " pathEditMode="relative" rAng="0" ptsTypes="AA">
                                      <p:cBhvr>
                                        <p:cTn id="13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95062E-6 L 3.33333E-6 0.25 " pathEditMode="relative" rAng="0" ptsTypes="AA">
                                      <p:cBhvr>
                                        <p:cTn id="13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3.95062E-6 L 1.94444E-6 0.25 " pathEditMode="relative" rAng="0" ptsTypes="AA">
                                      <p:cBhvr>
                                        <p:cTn id="13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7.40741E-7 L -0.00486 0.24599 " pathEditMode="relative" rAng="0" ptsTypes="AA">
                                      <p:cBhvr>
                                        <p:cTn id="14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" y="12284"/>
                                    </p:animMotion>
                                  </p:childTnLst>
                                </p:cTn>
                              </p:par>
                              <p:par>
                                <p:cTn id="14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3.95062E-6 L 4.72222E-6 0.25 " pathEditMode="relative" rAng="0" ptsTypes="AA">
                                      <p:cBhvr>
                                        <p:cTn id="14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3.95062E-6 L -3.88889E-6 0.25 " pathEditMode="relative" rAng="0" ptsTypes="AA">
                                      <p:cBhvr>
                                        <p:cTn id="14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3.95062E-6 L 2.77778E-7 0.25 " pathEditMode="relative" rAng="0" ptsTypes="AA">
                                      <p:cBhvr>
                                        <p:cTn id="14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000"/>
                            </p:stCondLst>
                            <p:childTnLst>
                              <p:par>
                                <p:cTn id="1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500"/>
                            </p:stCondLst>
                            <p:childTnLst>
                              <p:par>
                                <p:cTn id="17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1.60494E-6 L -0.00312 0.30062 " pathEditMode="relative" rAng="0" ptsTypes="AA">
                                      <p:cBhvr>
                                        <p:cTn id="17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15031"/>
                                    </p:animMotion>
                                  </p:childTnLst>
                                </p:cTn>
                              </p:par>
                              <p:par>
                                <p:cTn id="17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4.5679E-6 L 0.00087 0.27993 " pathEditMode="relative" rAng="0" ptsTypes="AA">
                                      <p:cBhvr>
                                        <p:cTn id="17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13981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3.33333E-6 L 0.00156 0.28858 " pathEditMode="relative" rAng="0" ptsTypes="AA">
                                      <p:cBhvr>
                                        <p:cTn id="17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14414"/>
                                    </p:animMotion>
                                  </p:childTnLst>
                                </p:cTn>
                              </p:par>
                              <p:par>
                                <p:cTn id="17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2.22222E-6 L -1.38889E-6 0.13148 " pathEditMode="relative" rAng="0" ptsTypes="AA">
                                      <p:cBhvr>
                                        <p:cTn id="17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574"/>
                                    </p:animMotion>
                                  </p:childTnLst>
                                </p:cTn>
                              </p:par>
                              <p:par>
                                <p:cTn id="17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1.11111E-6 L -0.00087 0.10741 " pathEditMode="relative" rAng="0" ptsTypes="AA">
                                      <p:cBhvr>
                                        <p:cTn id="18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5370"/>
                                    </p:animMotion>
                                  </p:childTnLst>
                                </p:cTn>
                              </p:par>
                              <p:par>
                                <p:cTn id="18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4.5679E-6 L 0.00069 0.12161 " pathEditMode="relative" rAng="0" ptsTypes="AA">
                                      <p:cBhvr>
                                        <p:cTn id="18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6080"/>
                                    </p:animMotion>
                                  </p:childTnLst>
                                </p:cTn>
                              </p:par>
                              <p:par>
                                <p:cTn id="18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19753E-6 L 0.00086 0.15865 " pathEditMode="relative" rAng="0" ptsTypes="AA">
                                      <p:cBhvr>
                                        <p:cTn id="18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7932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07407E-6 L 0.00173 0.17345 " pathEditMode="relative" rAng="0" ptsTypes="AA">
                                      <p:cBhvr>
                                        <p:cTn id="18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8673"/>
                                    </p:animMotion>
                                  </p:childTnLst>
                                </p:cTn>
                              </p:par>
                              <p:par>
                                <p:cTn id="18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2.96296E-6 L 0.00069 0.24352 " pathEditMode="relative" rAng="0" ptsTypes="AA">
                                      <p:cBhvr>
                                        <p:cTn id="18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12160"/>
                                    </p:animMotion>
                                  </p:childTnLst>
                                </p:cTn>
                              </p:par>
                              <p:par>
                                <p:cTn id="18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8.64198E-7 L -0.00017 -0.2108 " pathEditMode="relative" rAng="0" ptsTypes="AA">
                                      <p:cBhvr>
                                        <p:cTn id="19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10556"/>
                                    </p:animMotion>
                                  </p:childTnLst>
                                </p:cTn>
                              </p:par>
                              <p:par>
                                <p:cTn id="19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35802E-6 L 0.00035 0.13766 " pathEditMode="relative" rAng="0" ptsTypes="AA">
                                      <p:cBhvr>
                                        <p:cTn id="19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68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4500"/>
                            </p:stCondLst>
                            <p:childTnLst>
                              <p:par>
                                <p:cTn id="1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58" grpId="0"/>
      <p:bldP spid="59" grpId="0"/>
      <p:bldP spid="60" grpId="0"/>
      <p:bldP spid="61" grpId="0"/>
      <p:bldP spid="62" grpId="0"/>
      <p:bldP spid="63" grpId="0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2" grpId="0" animBg="1"/>
      <p:bldP spid="73" grpId="0" animBg="1"/>
      <p:bldP spid="74" grpId="0" animBg="1"/>
      <p:bldP spid="7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9461E-938B-EA9B-7B80-FFDECEAB6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491AD-F813-42AA-EBEC-9D88A5A27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latin typeface="Bebas Neue"/>
              </a:rPr>
              <a:t>How can we represent words?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C3765-D0A8-C1EF-B979-981498FE13BB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IE" dirty="0"/>
              <a:t>Let’s categorise animals in a numerical way!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AEC1C6-93DF-B2FD-8890-BB5C25C1B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DC1049-2D94-EFD6-3F57-51EF31666FD1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Size: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Number of legs: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Life span: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B2D338-5E5D-9528-3469-DA6C117D40EF}"/>
              </a:ext>
            </a:extLst>
          </p:cNvPr>
          <p:cNvCxnSpPr>
            <a:cxnSpLocks/>
          </p:cNvCxnSpPr>
          <p:nvPr/>
        </p:nvCxnSpPr>
        <p:spPr>
          <a:xfrm>
            <a:off x="4037254" y="3554073"/>
            <a:ext cx="3534657" cy="156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5A9C1F8-54C3-9B0B-4AC3-C4355282ECFA}"/>
              </a:ext>
            </a:extLst>
          </p:cNvPr>
          <p:cNvSpPr txBox="1"/>
          <p:nvPr/>
        </p:nvSpPr>
        <p:spPr>
          <a:xfrm>
            <a:off x="4023801" y="3556828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0</a:t>
            </a:r>
            <a:endParaRPr lang="en-US" sz="800" b="1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84F724-F962-F124-B0F7-E505A29CB116}"/>
              </a:ext>
            </a:extLst>
          </p:cNvPr>
          <p:cNvSpPr txBox="1"/>
          <p:nvPr/>
        </p:nvSpPr>
        <p:spPr>
          <a:xfrm>
            <a:off x="7345031" y="3614490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30</a:t>
            </a:r>
            <a:endParaRPr lang="en-US" sz="800" b="1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A55897-9F2F-8F8E-F2D0-C8ED355A7CAB}"/>
              </a:ext>
            </a:extLst>
          </p:cNvPr>
          <p:cNvSpPr txBox="1"/>
          <p:nvPr/>
        </p:nvSpPr>
        <p:spPr>
          <a:xfrm>
            <a:off x="5693807" y="3603667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900" b="1" dirty="0" err="1">
                <a:latin typeface="+mn-lt"/>
              </a:rPr>
              <a:t>Metres</a:t>
            </a:r>
            <a:endParaRPr lang="en-US" sz="900" b="1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9ACE15-2969-45E2-9114-D44C17829113}"/>
              </a:ext>
            </a:extLst>
          </p:cNvPr>
          <p:cNvSpPr txBox="1"/>
          <p:nvPr/>
        </p:nvSpPr>
        <p:spPr>
          <a:xfrm>
            <a:off x="3565333" y="3444027"/>
            <a:ext cx="246862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Snail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BBA4CF-EA46-D7CA-9134-BE7C84EE50F5}"/>
              </a:ext>
            </a:extLst>
          </p:cNvPr>
          <p:cNvSpPr txBox="1"/>
          <p:nvPr/>
        </p:nvSpPr>
        <p:spPr>
          <a:xfrm>
            <a:off x="3306736" y="2061129"/>
            <a:ext cx="440826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Millipede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1D108E-B817-72E4-7368-A4D9793BA2A7}"/>
              </a:ext>
            </a:extLst>
          </p:cNvPr>
          <p:cNvSpPr txBox="1"/>
          <p:nvPr/>
        </p:nvSpPr>
        <p:spPr>
          <a:xfrm>
            <a:off x="5663549" y="4108102"/>
            <a:ext cx="496931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Anaconda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B4D5CE-69B7-A975-F032-7540E3C03B17}"/>
              </a:ext>
            </a:extLst>
          </p:cNvPr>
          <p:cNvSpPr txBox="1"/>
          <p:nvPr/>
        </p:nvSpPr>
        <p:spPr>
          <a:xfrm>
            <a:off x="3573870" y="3186515"/>
            <a:ext cx="209805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Cat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EAD52A-3DEC-1387-0507-0E60492EE1E0}"/>
              </a:ext>
            </a:extLst>
          </p:cNvPr>
          <p:cNvSpPr txBox="1"/>
          <p:nvPr/>
        </p:nvSpPr>
        <p:spPr>
          <a:xfrm>
            <a:off x="4119696" y="3137200"/>
            <a:ext cx="198772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Dog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7A100C-904E-B773-11B2-926561F84A0F}"/>
              </a:ext>
            </a:extLst>
          </p:cNvPr>
          <p:cNvSpPr txBox="1"/>
          <p:nvPr/>
        </p:nvSpPr>
        <p:spPr>
          <a:xfrm>
            <a:off x="4062525" y="2863633"/>
            <a:ext cx="182742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Fox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DE9D24-3C22-0D9D-B6B4-881A6E3D00CC}"/>
              </a:ext>
            </a:extLst>
          </p:cNvPr>
          <p:cNvSpPr txBox="1"/>
          <p:nvPr/>
        </p:nvSpPr>
        <p:spPr>
          <a:xfrm>
            <a:off x="4442009" y="3101279"/>
            <a:ext cx="221214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Wolf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A7E58D-298A-FEB1-0406-7201E18BDAB3}"/>
              </a:ext>
            </a:extLst>
          </p:cNvPr>
          <p:cNvSpPr txBox="1"/>
          <p:nvPr/>
        </p:nvSpPr>
        <p:spPr>
          <a:xfrm>
            <a:off x="6198516" y="4702965"/>
            <a:ext cx="538609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Blue whale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2474ED-6C27-58F5-8A7C-D46432E4066F}"/>
              </a:ext>
            </a:extLst>
          </p:cNvPr>
          <p:cNvSpPr txBox="1"/>
          <p:nvPr/>
        </p:nvSpPr>
        <p:spPr>
          <a:xfrm>
            <a:off x="5214847" y="4416759"/>
            <a:ext cx="583493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</a:rPr>
              <a:t>White shark</a:t>
            </a:r>
            <a:endParaRPr lang="en-US" sz="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0D9BC4-ED42-56C1-FB4E-4EAF7FBF0B24}"/>
              </a:ext>
            </a:extLst>
          </p:cNvPr>
          <p:cNvSpPr txBox="1"/>
          <p:nvPr/>
        </p:nvSpPr>
        <p:spPr>
          <a:xfrm>
            <a:off x="4610739" y="3580422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1</a:t>
            </a:r>
            <a:endParaRPr lang="en-US" sz="800" b="1" dirty="0"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B93AD7-631B-CBCA-AC56-37F67EBF7940}"/>
              </a:ext>
            </a:extLst>
          </p:cNvPr>
          <p:cNvSpPr txBox="1"/>
          <p:nvPr/>
        </p:nvSpPr>
        <p:spPr>
          <a:xfrm>
            <a:off x="3745679" y="3884857"/>
            <a:ext cx="556243" cy="24622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ctr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Galapagos </a:t>
            </a:r>
            <a:b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Tortoise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8BCEDC-4DE0-705D-2C68-79600663775E}"/>
              </a:ext>
            </a:extLst>
          </p:cNvPr>
          <p:cNvSpPr txBox="1"/>
          <p:nvPr/>
        </p:nvSpPr>
        <p:spPr>
          <a:xfrm>
            <a:off x="5163156" y="3583944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BFEF12-8ED5-832C-D130-0792559836DE}"/>
              </a:ext>
            </a:extLst>
          </p:cNvPr>
          <p:cNvSpPr txBox="1"/>
          <p:nvPr/>
        </p:nvSpPr>
        <p:spPr>
          <a:xfrm>
            <a:off x="6240196" y="3614490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5</a:t>
            </a:r>
            <a:endParaRPr lang="en-US" sz="800" b="1" dirty="0">
              <a:latin typeface="+mn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3715B0-6631-7882-1E4F-E97D4F5FB04C}"/>
              </a:ext>
            </a:extLst>
          </p:cNvPr>
          <p:cNvSpPr txBox="1"/>
          <p:nvPr/>
        </p:nvSpPr>
        <p:spPr>
          <a:xfrm>
            <a:off x="3100088" y="3864767"/>
            <a:ext cx="209805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Ara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A14025F-A827-7500-B551-1F51F8650078}"/>
              </a:ext>
            </a:extLst>
          </p:cNvPr>
          <p:cNvCxnSpPr>
            <a:cxnSpLocks/>
          </p:cNvCxnSpPr>
          <p:nvPr/>
        </p:nvCxnSpPr>
        <p:spPr>
          <a:xfrm flipV="1">
            <a:off x="4037254" y="1631950"/>
            <a:ext cx="0" cy="19299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A06E820-13DF-3A50-B920-1FA197D74507}"/>
              </a:ext>
            </a:extLst>
          </p:cNvPr>
          <p:cNvSpPr txBox="1"/>
          <p:nvPr/>
        </p:nvSpPr>
        <p:spPr>
          <a:xfrm rot="5400000">
            <a:off x="3497818" y="2610941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900" b="1" dirty="0">
                <a:latin typeface="+mn-lt"/>
              </a:rPr>
              <a:t>Number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4F6E321-5229-ED67-6754-F71094901BF1}"/>
              </a:ext>
            </a:extLst>
          </p:cNvPr>
          <p:cNvSpPr txBox="1"/>
          <p:nvPr/>
        </p:nvSpPr>
        <p:spPr>
          <a:xfrm rot="5400000">
            <a:off x="3773520" y="1574183"/>
            <a:ext cx="329919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100+</a:t>
            </a:r>
            <a:endParaRPr lang="en-US" sz="800" b="1" dirty="0">
              <a:latin typeface="+mn-lt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044F5A0-527D-9FD4-495D-442A032EE53A}"/>
              </a:ext>
            </a:extLst>
          </p:cNvPr>
          <p:cNvSpPr txBox="1"/>
          <p:nvPr/>
        </p:nvSpPr>
        <p:spPr>
          <a:xfrm rot="5400000">
            <a:off x="3833416" y="3305316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1</a:t>
            </a:r>
            <a:endParaRPr lang="en-US" sz="800" b="1" dirty="0">
              <a:latin typeface="+mn-lt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316A7D-D408-3C75-9F49-8CB7677FC62B}"/>
              </a:ext>
            </a:extLst>
          </p:cNvPr>
          <p:cNvSpPr txBox="1"/>
          <p:nvPr/>
        </p:nvSpPr>
        <p:spPr>
          <a:xfrm rot="5400000">
            <a:off x="3840143" y="3133232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0C99A6A-6C08-5CD3-5DE1-8A2FE7B80D04}"/>
              </a:ext>
            </a:extLst>
          </p:cNvPr>
          <p:cNvSpPr txBox="1"/>
          <p:nvPr/>
        </p:nvSpPr>
        <p:spPr>
          <a:xfrm rot="5400000">
            <a:off x="3842543" y="2724310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4</a:t>
            </a:r>
            <a:endParaRPr lang="en-US" sz="800" b="1" dirty="0">
              <a:latin typeface="+mn-lt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BE38BC4-6DF8-6E04-F9C4-6BD416E23292}"/>
              </a:ext>
            </a:extLst>
          </p:cNvPr>
          <p:cNvSpPr/>
          <p:nvPr/>
        </p:nvSpPr>
        <p:spPr>
          <a:xfrm>
            <a:off x="3884001" y="3400535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98ADF50-C1AC-70CB-4B52-1F438D2073C7}"/>
              </a:ext>
            </a:extLst>
          </p:cNvPr>
          <p:cNvSpPr/>
          <p:nvPr/>
        </p:nvSpPr>
        <p:spPr>
          <a:xfrm>
            <a:off x="5530398" y="4334132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2C2A948-F591-6952-5C77-1F1C561A5B96}"/>
              </a:ext>
            </a:extLst>
          </p:cNvPr>
          <p:cNvSpPr/>
          <p:nvPr/>
        </p:nvSpPr>
        <p:spPr>
          <a:xfrm>
            <a:off x="3683935" y="3143023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7513EFF0-AE6B-D9A7-3D2B-3EAA9FA422A9}"/>
              </a:ext>
            </a:extLst>
          </p:cNvPr>
          <p:cNvSpPr/>
          <p:nvPr/>
        </p:nvSpPr>
        <p:spPr>
          <a:xfrm>
            <a:off x="4158801" y="2833005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51BC4C5-3C21-7FB5-16BC-FC28B650F0E6}"/>
              </a:ext>
            </a:extLst>
          </p:cNvPr>
          <p:cNvSpPr/>
          <p:nvPr/>
        </p:nvSpPr>
        <p:spPr>
          <a:xfrm>
            <a:off x="4270737" y="3079554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A123C03-9B6E-1945-1DD6-6AAA3F6DBC84}"/>
              </a:ext>
            </a:extLst>
          </p:cNvPr>
          <p:cNvSpPr/>
          <p:nvPr/>
        </p:nvSpPr>
        <p:spPr>
          <a:xfrm>
            <a:off x="4564942" y="3029228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3B1EBEB-76F8-CBB6-6DC2-BEF927905062}"/>
              </a:ext>
            </a:extLst>
          </p:cNvPr>
          <p:cNvSpPr/>
          <p:nvPr/>
        </p:nvSpPr>
        <p:spPr>
          <a:xfrm>
            <a:off x="3853045" y="3742166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79B6A36-C3A9-CA2F-5FCC-2823A8640BBA}"/>
              </a:ext>
            </a:extLst>
          </p:cNvPr>
          <p:cNvSpPr/>
          <p:nvPr/>
        </p:nvSpPr>
        <p:spPr>
          <a:xfrm>
            <a:off x="3239907" y="3838468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16B842C-C28F-8FE6-A0E2-AA85CA51A253}"/>
              </a:ext>
            </a:extLst>
          </p:cNvPr>
          <p:cNvSpPr/>
          <p:nvPr/>
        </p:nvSpPr>
        <p:spPr>
          <a:xfrm>
            <a:off x="5868082" y="4059155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818A5CA-3860-3051-D1A7-BA9EDCC1D4B7}"/>
              </a:ext>
            </a:extLst>
          </p:cNvPr>
          <p:cNvSpPr/>
          <p:nvPr/>
        </p:nvSpPr>
        <p:spPr>
          <a:xfrm>
            <a:off x="6364427" y="4575120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3CF8646-FE93-A495-B96A-2BDA1993E3A1}"/>
              </a:ext>
            </a:extLst>
          </p:cNvPr>
          <p:cNvSpPr/>
          <p:nvPr/>
        </p:nvSpPr>
        <p:spPr>
          <a:xfrm>
            <a:off x="3749149" y="2001412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C8E6228-0E5E-25A5-F5F4-6C80460FD8FC}"/>
              </a:ext>
            </a:extLst>
          </p:cNvPr>
          <p:cNvCxnSpPr>
            <a:cxnSpLocks/>
          </p:cNvCxnSpPr>
          <p:nvPr/>
        </p:nvCxnSpPr>
        <p:spPr>
          <a:xfrm flipH="1">
            <a:off x="2566155" y="3565053"/>
            <a:ext cx="1467736" cy="11994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C32D2FB-62D4-C1F9-04C3-082A171EA230}"/>
              </a:ext>
            </a:extLst>
          </p:cNvPr>
          <p:cNvSpPr txBox="1"/>
          <p:nvPr/>
        </p:nvSpPr>
        <p:spPr>
          <a:xfrm rot="19046386">
            <a:off x="3826289" y="3648011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5</a:t>
            </a:r>
            <a:endParaRPr lang="en-US" sz="800" b="1" dirty="0">
              <a:latin typeface="+mn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460FB7-ADC3-904B-0E94-C08A4D034EB2}"/>
              </a:ext>
            </a:extLst>
          </p:cNvPr>
          <p:cNvSpPr txBox="1"/>
          <p:nvPr/>
        </p:nvSpPr>
        <p:spPr>
          <a:xfrm rot="19211568">
            <a:off x="3550489" y="3892168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10</a:t>
            </a:r>
            <a:endParaRPr lang="en-US" sz="800" b="1" dirty="0">
              <a:latin typeface="+mn-l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161829-6BB8-8EAB-6DCE-728CBF4B4196}"/>
              </a:ext>
            </a:extLst>
          </p:cNvPr>
          <p:cNvSpPr txBox="1"/>
          <p:nvPr/>
        </p:nvSpPr>
        <p:spPr>
          <a:xfrm rot="19075301">
            <a:off x="3273628" y="4134336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50</a:t>
            </a:r>
            <a:endParaRPr lang="en-US" sz="800" b="1" dirty="0">
              <a:latin typeface="+mn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CF5B35-EE3F-8415-E2EE-4239DA4CCA12}"/>
              </a:ext>
            </a:extLst>
          </p:cNvPr>
          <p:cNvSpPr txBox="1"/>
          <p:nvPr/>
        </p:nvSpPr>
        <p:spPr>
          <a:xfrm rot="19303965">
            <a:off x="2776294" y="4514087"/>
            <a:ext cx="308332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100+</a:t>
            </a:r>
            <a:endParaRPr lang="en-US" sz="800" b="1" dirty="0">
              <a:latin typeface="+mn-lt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EBE8152-6A49-179D-BF06-651B9A40D3C3}"/>
              </a:ext>
            </a:extLst>
          </p:cNvPr>
          <p:cNvCxnSpPr>
            <a:cxnSpLocks/>
          </p:cNvCxnSpPr>
          <p:nvPr/>
        </p:nvCxnSpPr>
        <p:spPr>
          <a:xfrm>
            <a:off x="4037254" y="2704355"/>
            <a:ext cx="1125902" cy="904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2BC5A34-2E01-EA01-A8C1-60F355B4AFC3}"/>
              </a:ext>
            </a:extLst>
          </p:cNvPr>
          <p:cNvCxnSpPr>
            <a:cxnSpLocks/>
          </p:cNvCxnSpPr>
          <p:nvPr/>
        </p:nvCxnSpPr>
        <p:spPr>
          <a:xfrm>
            <a:off x="5162075" y="2710769"/>
            <a:ext cx="541" cy="84330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37DC90E-6B90-07F1-1817-2CAD11C729FF}"/>
              </a:ext>
            </a:extLst>
          </p:cNvPr>
          <p:cNvCxnSpPr>
            <a:cxnSpLocks/>
            <a:stCxn id="34" idx="1"/>
          </p:cNvCxnSpPr>
          <p:nvPr/>
        </p:nvCxnSpPr>
        <p:spPr>
          <a:xfrm flipV="1">
            <a:off x="3856173" y="2689241"/>
            <a:ext cx="1329725" cy="111244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411D861-C3F7-53C7-C1A9-7D015D41123A}"/>
              </a:ext>
            </a:extLst>
          </p:cNvPr>
          <p:cNvCxnSpPr>
            <a:cxnSpLocks/>
          </p:cNvCxnSpPr>
          <p:nvPr/>
        </p:nvCxnSpPr>
        <p:spPr>
          <a:xfrm>
            <a:off x="2761720" y="3758984"/>
            <a:ext cx="1125902" cy="904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22AB745-3C39-8D79-365D-E8D9B4E9AA45}"/>
              </a:ext>
            </a:extLst>
          </p:cNvPr>
          <p:cNvCxnSpPr>
            <a:cxnSpLocks/>
          </p:cNvCxnSpPr>
          <p:nvPr/>
        </p:nvCxnSpPr>
        <p:spPr>
          <a:xfrm>
            <a:off x="2775640" y="3749288"/>
            <a:ext cx="541" cy="84330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3835D06-D099-AD72-A63B-5D04B25A0717}"/>
              </a:ext>
            </a:extLst>
          </p:cNvPr>
          <p:cNvCxnSpPr>
            <a:cxnSpLocks/>
          </p:cNvCxnSpPr>
          <p:nvPr/>
        </p:nvCxnSpPr>
        <p:spPr>
          <a:xfrm flipV="1">
            <a:off x="2765824" y="2662056"/>
            <a:ext cx="1329725" cy="111244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0DB22B4-CD2A-3DB1-F45E-77D6BAC1E364}"/>
              </a:ext>
            </a:extLst>
          </p:cNvPr>
          <p:cNvCxnSpPr>
            <a:cxnSpLocks/>
          </p:cNvCxnSpPr>
          <p:nvPr/>
        </p:nvCxnSpPr>
        <p:spPr>
          <a:xfrm flipV="1">
            <a:off x="3889132" y="3511808"/>
            <a:ext cx="1329725" cy="111244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26B70A9-1909-38E4-4EAC-D685658B818B}"/>
              </a:ext>
            </a:extLst>
          </p:cNvPr>
          <p:cNvCxnSpPr>
            <a:cxnSpLocks/>
          </p:cNvCxnSpPr>
          <p:nvPr/>
        </p:nvCxnSpPr>
        <p:spPr>
          <a:xfrm>
            <a:off x="2773679" y="4599659"/>
            <a:ext cx="1125902" cy="904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2DFDA56-CB12-1F40-DD0B-1E6569528D46}"/>
              </a:ext>
            </a:extLst>
          </p:cNvPr>
          <p:cNvCxnSpPr>
            <a:cxnSpLocks/>
          </p:cNvCxnSpPr>
          <p:nvPr/>
        </p:nvCxnSpPr>
        <p:spPr>
          <a:xfrm>
            <a:off x="3896112" y="3771392"/>
            <a:ext cx="541" cy="84330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045E164F-99BB-1118-9DE0-EA000C3DA74B}"/>
              </a:ext>
            </a:extLst>
          </p:cNvPr>
          <p:cNvSpPr/>
          <p:nvPr/>
        </p:nvSpPr>
        <p:spPr>
          <a:xfrm>
            <a:off x="3811062" y="3712570"/>
            <a:ext cx="140458" cy="136933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D170063-D46B-F793-D137-AE0F177B6F47}"/>
              </a:ext>
            </a:extLst>
          </p:cNvPr>
          <p:cNvSpPr txBox="1"/>
          <p:nvPr/>
        </p:nvSpPr>
        <p:spPr>
          <a:xfrm rot="19150779">
            <a:off x="3269840" y="3891040"/>
            <a:ext cx="31920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 b="1" dirty="0"/>
              <a:t>Years</a:t>
            </a:r>
            <a:endParaRPr lang="en-US" sz="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17018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E1E62-901E-F468-9FCF-9CE292ED1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8CDC5-B6A1-4CA8-5BA0-3CD5A3473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latin typeface="Bebas Neue"/>
              </a:rPr>
              <a:t>How can we represent words?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88973A-2071-A6E2-8924-48ED970B1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7FE6D6-8F4E-24DC-F5E8-FF9947EF1CBF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An image?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A description?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A list of features?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Or maybe a </a:t>
            </a:r>
            <a:br>
              <a:rPr lang="en-IE" b="0" dirty="0">
                <a:solidFill>
                  <a:srgbClr val="537992"/>
                </a:solidFill>
              </a:rPr>
            </a:br>
            <a:r>
              <a:rPr lang="en-IE" b="0" dirty="0">
                <a:solidFill>
                  <a:srgbClr val="537992"/>
                </a:solidFill>
              </a:rPr>
              <a:t>mathematical representation?</a:t>
            </a:r>
          </a:p>
        </p:txBody>
      </p:sp>
      <p:pic>
        <p:nvPicPr>
          <p:cNvPr id="7" name="Picture 6" descr="A black and white image of a centipede&#10;&#10;AI-generated content may be incorrect.">
            <a:extLst>
              <a:ext uri="{FF2B5EF4-FFF2-40B4-BE49-F238E27FC236}">
                <a16:creationId xmlns:a16="http://schemas.microsoft.com/office/drawing/2014/main" id="{FDDB7310-8C83-1F0B-536F-30774B05D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22" b="34243"/>
          <a:stretch>
            <a:fillRect/>
          </a:stretch>
        </p:blipFill>
        <p:spPr>
          <a:xfrm>
            <a:off x="3522555" y="3685057"/>
            <a:ext cx="2190585" cy="8642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86835C-082B-6AA4-DD2F-C422F6076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58"/>
          <a:stretch>
            <a:fillRect/>
          </a:stretch>
        </p:blipFill>
        <p:spPr>
          <a:xfrm>
            <a:off x="4749249" y="0"/>
            <a:ext cx="2190585" cy="2268000"/>
          </a:xfrm>
          <a:prstGeom prst="rect">
            <a:avLst/>
          </a:prstGeom>
        </p:spPr>
      </p:pic>
      <p:pic>
        <p:nvPicPr>
          <p:cNvPr id="11" name="Picture 10" descr="A drawing of a dog&#10;&#10;AI-generated content may be incorrect.">
            <a:extLst>
              <a:ext uri="{FF2B5EF4-FFF2-40B4-BE49-F238E27FC236}">
                <a16:creationId xmlns:a16="http://schemas.microsoft.com/office/drawing/2014/main" id="{26A893DB-A437-34C5-FD4D-F78D8CE0B4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" t="11280" r="-348" b="26598"/>
          <a:stretch>
            <a:fillRect/>
          </a:stretch>
        </p:blipFill>
        <p:spPr>
          <a:xfrm>
            <a:off x="4015869" y="2079608"/>
            <a:ext cx="2190585" cy="15876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6BF5B5-551D-0B28-431F-BE10D8F95798}"/>
              </a:ext>
            </a:extLst>
          </p:cNvPr>
          <p:cNvSpPr txBox="1"/>
          <p:nvPr/>
        </p:nvSpPr>
        <p:spPr>
          <a:xfrm>
            <a:off x="6766605" y="922802"/>
            <a:ext cx="23392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Dog = (</a:t>
            </a:r>
            <a:r>
              <a:rPr lang="en-US" sz="1400" dirty="0">
                <a:solidFill>
                  <a:schemeClr val="tx2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1  , 4, 13</a:t>
            </a: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9E4E47-AE10-6177-7712-486F831558EC}"/>
              </a:ext>
            </a:extLst>
          </p:cNvPr>
          <p:cNvSpPr txBox="1"/>
          <p:nvPr/>
        </p:nvSpPr>
        <p:spPr>
          <a:xfrm>
            <a:off x="6404575" y="2780421"/>
            <a:ext cx="26632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Wolf = (</a:t>
            </a:r>
            <a:r>
              <a:rPr lang="en-US" sz="1400" dirty="0">
                <a:solidFill>
                  <a:schemeClr val="tx2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1.5, 4,  6</a:t>
            </a: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3E500E-EC3E-110D-EB04-F0A241355EB2}"/>
              </a:ext>
            </a:extLst>
          </p:cNvPr>
          <p:cNvSpPr txBox="1"/>
          <p:nvPr/>
        </p:nvSpPr>
        <p:spPr>
          <a:xfrm>
            <a:off x="5844541" y="3879055"/>
            <a:ext cx="3413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Millipede = (</a:t>
            </a:r>
            <a:r>
              <a:rPr lang="en-US" sz="1400" dirty="0">
                <a:solidFill>
                  <a:schemeClr val="tx2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0.3, 200, 10</a:t>
            </a: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74374-3616-2546-F3AF-ABD5386610F0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IE" dirty="0"/>
              <a:t>What do you see when you think of an animal?</a:t>
            </a:r>
          </a:p>
        </p:txBody>
      </p:sp>
    </p:spTree>
    <p:extLst>
      <p:ext uri="{BB962C8B-B14F-4D97-AF65-F5344CB8AC3E}">
        <p14:creationId xmlns:p14="http://schemas.microsoft.com/office/powerpoint/2010/main" val="2920860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FDBFB-7936-EDFE-B151-56CBB75B1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6B0DE-0B22-5FA3-A7AB-768E641DB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latin typeface="Bebas Neue"/>
              </a:rPr>
              <a:t>How can we represent words?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60417-898C-2FDA-73BE-F48EFE1F2081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IE" dirty="0"/>
              <a:t>Let’s categorise animals in a numerical way!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9236D-BF4E-8D37-E28B-719D6F6006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342FF5-9572-78C1-47ED-5D9BB20E6CCA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 vert="horz" lIns="0" tIns="0" rIns="0" bIns="0" rtlCol="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IE" b="0" dirty="0">
                <a:solidFill>
                  <a:srgbClr val="537992"/>
                </a:solidFill>
              </a:rPr>
              <a:t>Distance between two animals:</a:t>
            </a:r>
            <a:br>
              <a:rPr lang="en-IE" b="0" dirty="0">
                <a:solidFill>
                  <a:srgbClr val="537992"/>
                </a:solidFill>
              </a:rPr>
            </a:br>
            <a:r>
              <a:rPr lang="en-IE" sz="1400" b="0" dirty="0">
                <a:solidFill>
                  <a:srgbClr val="537992"/>
                </a:solidFill>
              </a:rPr>
              <a:t>The closer, the more similar</a:t>
            </a:r>
            <a:endParaRPr lang="en-IE" b="0" dirty="0">
              <a:solidFill>
                <a:srgbClr val="537992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A1A223-89A1-32A4-39DA-88D1204F934F}"/>
              </a:ext>
            </a:extLst>
          </p:cNvPr>
          <p:cNvCxnSpPr>
            <a:cxnSpLocks/>
          </p:cNvCxnSpPr>
          <p:nvPr/>
        </p:nvCxnSpPr>
        <p:spPr>
          <a:xfrm>
            <a:off x="4037254" y="3554073"/>
            <a:ext cx="3534657" cy="156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C3F1121-6126-A67B-AE84-34AD93DAF466}"/>
              </a:ext>
            </a:extLst>
          </p:cNvPr>
          <p:cNvSpPr txBox="1"/>
          <p:nvPr/>
        </p:nvSpPr>
        <p:spPr>
          <a:xfrm>
            <a:off x="4023801" y="3556828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0</a:t>
            </a:r>
            <a:endParaRPr lang="en-US" sz="800" b="1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5D0E74-3E52-2DAC-A886-9FF7E9DEBF3A}"/>
              </a:ext>
            </a:extLst>
          </p:cNvPr>
          <p:cNvSpPr txBox="1"/>
          <p:nvPr/>
        </p:nvSpPr>
        <p:spPr>
          <a:xfrm>
            <a:off x="7345031" y="3614490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30</a:t>
            </a:r>
            <a:endParaRPr lang="en-US" sz="800" b="1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06D7E9-75DC-F876-CEEC-82B2BBBA49E9}"/>
              </a:ext>
            </a:extLst>
          </p:cNvPr>
          <p:cNvSpPr txBox="1"/>
          <p:nvPr/>
        </p:nvSpPr>
        <p:spPr>
          <a:xfrm>
            <a:off x="5693807" y="3603667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900" b="1" dirty="0" err="1">
                <a:latin typeface="+mn-lt"/>
              </a:rPr>
              <a:t>Metres</a:t>
            </a:r>
            <a:endParaRPr lang="en-US" sz="900" b="1" dirty="0"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D26DBC-E4C7-57FB-FCB7-D4A37954B2AF}"/>
              </a:ext>
            </a:extLst>
          </p:cNvPr>
          <p:cNvSpPr txBox="1"/>
          <p:nvPr/>
        </p:nvSpPr>
        <p:spPr>
          <a:xfrm>
            <a:off x="4119696" y="3137200"/>
            <a:ext cx="198772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Dog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2CCFB9-21B7-66B7-E3D6-AC9DEFDB31BE}"/>
              </a:ext>
            </a:extLst>
          </p:cNvPr>
          <p:cNvSpPr txBox="1"/>
          <p:nvPr/>
        </p:nvSpPr>
        <p:spPr>
          <a:xfrm>
            <a:off x="4614473" y="3147251"/>
            <a:ext cx="221214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Wolf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E13DD5-3CDA-2B58-DB7E-CCD712E9E56B}"/>
              </a:ext>
            </a:extLst>
          </p:cNvPr>
          <p:cNvSpPr txBox="1"/>
          <p:nvPr/>
        </p:nvSpPr>
        <p:spPr>
          <a:xfrm>
            <a:off x="4610739" y="3580422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1</a:t>
            </a:r>
            <a:endParaRPr lang="en-US" sz="800" b="1" dirty="0">
              <a:latin typeface="+mn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98B41C-343D-7659-ED2A-E32C0250432A}"/>
              </a:ext>
            </a:extLst>
          </p:cNvPr>
          <p:cNvSpPr txBox="1"/>
          <p:nvPr/>
        </p:nvSpPr>
        <p:spPr>
          <a:xfrm>
            <a:off x="5163156" y="3583944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F51872-E861-02A3-C293-3EB8A74BE40F}"/>
              </a:ext>
            </a:extLst>
          </p:cNvPr>
          <p:cNvSpPr txBox="1"/>
          <p:nvPr/>
        </p:nvSpPr>
        <p:spPr>
          <a:xfrm>
            <a:off x="6240196" y="3614490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5</a:t>
            </a:r>
            <a:endParaRPr lang="en-US" sz="800" b="1" dirty="0">
              <a:latin typeface="+mn-lt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C42AEF2-A893-F76C-01AF-2BAB16127EDC}"/>
              </a:ext>
            </a:extLst>
          </p:cNvPr>
          <p:cNvCxnSpPr>
            <a:cxnSpLocks/>
          </p:cNvCxnSpPr>
          <p:nvPr/>
        </p:nvCxnSpPr>
        <p:spPr>
          <a:xfrm flipV="1">
            <a:off x="4037254" y="1631950"/>
            <a:ext cx="0" cy="19299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11A4B54-F107-6B57-937A-E9F586C57508}"/>
              </a:ext>
            </a:extLst>
          </p:cNvPr>
          <p:cNvSpPr txBox="1"/>
          <p:nvPr/>
        </p:nvSpPr>
        <p:spPr>
          <a:xfrm rot="5400000">
            <a:off x="3497818" y="2610941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900" b="1" dirty="0">
                <a:latin typeface="+mn-lt"/>
              </a:rPr>
              <a:t>Number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70E7AA-9AFB-5F9D-1D56-96DEAB7A7AB6}"/>
              </a:ext>
            </a:extLst>
          </p:cNvPr>
          <p:cNvSpPr txBox="1"/>
          <p:nvPr/>
        </p:nvSpPr>
        <p:spPr>
          <a:xfrm rot="5400000">
            <a:off x="3773520" y="1574183"/>
            <a:ext cx="329919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100+</a:t>
            </a:r>
            <a:endParaRPr lang="en-US" sz="800" b="1" dirty="0">
              <a:latin typeface="+mn-lt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700E8CD-A29D-AA6D-0095-84DBAA7B41AB}"/>
              </a:ext>
            </a:extLst>
          </p:cNvPr>
          <p:cNvSpPr txBox="1"/>
          <p:nvPr/>
        </p:nvSpPr>
        <p:spPr>
          <a:xfrm rot="5400000">
            <a:off x="3833416" y="3305316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1</a:t>
            </a:r>
            <a:endParaRPr lang="en-US" sz="800" b="1" dirty="0">
              <a:latin typeface="+mn-lt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25A7318-31A7-B946-44DD-1F13D571C493}"/>
              </a:ext>
            </a:extLst>
          </p:cNvPr>
          <p:cNvSpPr txBox="1"/>
          <p:nvPr/>
        </p:nvSpPr>
        <p:spPr>
          <a:xfrm rot="5400000">
            <a:off x="3840143" y="3133232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99A991F-70FF-B8EE-2BA3-D92424BB85E2}"/>
              </a:ext>
            </a:extLst>
          </p:cNvPr>
          <p:cNvSpPr txBox="1"/>
          <p:nvPr/>
        </p:nvSpPr>
        <p:spPr>
          <a:xfrm rot="5400000">
            <a:off x="3842543" y="2724310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4</a:t>
            </a:r>
            <a:endParaRPr lang="en-US" sz="800" b="1" dirty="0">
              <a:latin typeface="+mn-lt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32307DD-1903-AADC-40CD-8FCE1F2710B2}"/>
              </a:ext>
            </a:extLst>
          </p:cNvPr>
          <p:cNvSpPr/>
          <p:nvPr/>
        </p:nvSpPr>
        <p:spPr>
          <a:xfrm>
            <a:off x="3884001" y="3400535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737CC68-109C-AB9E-5EAF-54A6F8BF7D7F}"/>
              </a:ext>
            </a:extLst>
          </p:cNvPr>
          <p:cNvSpPr/>
          <p:nvPr/>
        </p:nvSpPr>
        <p:spPr>
          <a:xfrm>
            <a:off x="5530398" y="4334132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7EA1515-5280-47FC-3A20-A1FB78C7BAEA}"/>
              </a:ext>
            </a:extLst>
          </p:cNvPr>
          <p:cNvSpPr/>
          <p:nvPr/>
        </p:nvSpPr>
        <p:spPr>
          <a:xfrm>
            <a:off x="3683935" y="3143023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7C6ED148-4E3B-B52F-DF3D-17D67E685478}"/>
              </a:ext>
            </a:extLst>
          </p:cNvPr>
          <p:cNvSpPr/>
          <p:nvPr/>
        </p:nvSpPr>
        <p:spPr>
          <a:xfrm>
            <a:off x="4158801" y="2833005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6F43DB0-8CFC-71EF-C823-78FCF5A4BC94}"/>
              </a:ext>
            </a:extLst>
          </p:cNvPr>
          <p:cNvSpPr/>
          <p:nvPr/>
        </p:nvSpPr>
        <p:spPr>
          <a:xfrm>
            <a:off x="4270737" y="3079554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4FD708E7-3B85-97D5-2AFA-ACEBE225DFBC}"/>
              </a:ext>
            </a:extLst>
          </p:cNvPr>
          <p:cNvSpPr/>
          <p:nvPr/>
        </p:nvSpPr>
        <p:spPr>
          <a:xfrm>
            <a:off x="4564942" y="3029228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CCC0B32-A030-D8A3-1EAF-290BEBBE45CC}"/>
              </a:ext>
            </a:extLst>
          </p:cNvPr>
          <p:cNvSpPr/>
          <p:nvPr/>
        </p:nvSpPr>
        <p:spPr>
          <a:xfrm>
            <a:off x="3853045" y="3742166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8B0DD6D-4699-E1DE-E221-2BD5B8A4D92A}"/>
              </a:ext>
            </a:extLst>
          </p:cNvPr>
          <p:cNvSpPr/>
          <p:nvPr/>
        </p:nvSpPr>
        <p:spPr>
          <a:xfrm>
            <a:off x="3239907" y="3838468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2FE5545D-D604-C386-96FB-363E7F6A6991}"/>
              </a:ext>
            </a:extLst>
          </p:cNvPr>
          <p:cNvSpPr/>
          <p:nvPr/>
        </p:nvSpPr>
        <p:spPr>
          <a:xfrm>
            <a:off x="5868082" y="4059155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59A7540-5C7E-3099-6F5D-13FAC4287822}"/>
              </a:ext>
            </a:extLst>
          </p:cNvPr>
          <p:cNvSpPr/>
          <p:nvPr/>
        </p:nvSpPr>
        <p:spPr>
          <a:xfrm>
            <a:off x="6364427" y="4575120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6386B7C-FBC8-329C-8726-479DE6B89DFF}"/>
              </a:ext>
            </a:extLst>
          </p:cNvPr>
          <p:cNvSpPr/>
          <p:nvPr/>
        </p:nvSpPr>
        <p:spPr>
          <a:xfrm>
            <a:off x="3749149" y="2001412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8762F7-345D-1E8F-0896-B65190FAADFB}"/>
              </a:ext>
            </a:extLst>
          </p:cNvPr>
          <p:cNvCxnSpPr>
            <a:cxnSpLocks/>
          </p:cNvCxnSpPr>
          <p:nvPr/>
        </p:nvCxnSpPr>
        <p:spPr>
          <a:xfrm flipH="1">
            <a:off x="2566155" y="3565053"/>
            <a:ext cx="1467736" cy="11994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DC0FB79-D2D5-1DD9-FA47-3B40E5C8D276}"/>
              </a:ext>
            </a:extLst>
          </p:cNvPr>
          <p:cNvSpPr txBox="1"/>
          <p:nvPr/>
        </p:nvSpPr>
        <p:spPr>
          <a:xfrm rot="19046386">
            <a:off x="3826289" y="3648011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5</a:t>
            </a:r>
            <a:endParaRPr lang="en-US" sz="800" b="1" dirty="0">
              <a:latin typeface="+mn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46E407-31A4-9448-5F72-4017777B4EB7}"/>
              </a:ext>
            </a:extLst>
          </p:cNvPr>
          <p:cNvSpPr txBox="1"/>
          <p:nvPr/>
        </p:nvSpPr>
        <p:spPr>
          <a:xfrm rot="19211568">
            <a:off x="3550489" y="3892168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10</a:t>
            </a:r>
            <a:endParaRPr lang="en-US" sz="800" b="1" dirty="0">
              <a:latin typeface="+mn-l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FD00E7-3153-0DE1-A99E-E3CFF320190C}"/>
              </a:ext>
            </a:extLst>
          </p:cNvPr>
          <p:cNvSpPr txBox="1"/>
          <p:nvPr/>
        </p:nvSpPr>
        <p:spPr>
          <a:xfrm rot="19075301">
            <a:off x="3273628" y="4134336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50</a:t>
            </a:r>
            <a:endParaRPr lang="en-US" sz="800" b="1" dirty="0">
              <a:latin typeface="+mn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00149B-EE5A-D32A-7630-6C0682731CF3}"/>
              </a:ext>
            </a:extLst>
          </p:cNvPr>
          <p:cNvSpPr txBox="1"/>
          <p:nvPr/>
        </p:nvSpPr>
        <p:spPr>
          <a:xfrm rot="19303965">
            <a:off x="2776294" y="4514087"/>
            <a:ext cx="308332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100+</a:t>
            </a:r>
            <a:endParaRPr lang="en-US" sz="800" b="1" dirty="0">
              <a:latin typeface="+mn-lt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A82C4A3-1E4A-DF6F-5EB2-56E3A892569A}"/>
              </a:ext>
            </a:extLst>
          </p:cNvPr>
          <p:cNvSpPr/>
          <p:nvPr/>
        </p:nvSpPr>
        <p:spPr>
          <a:xfrm>
            <a:off x="3851063" y="3734310"/>
            <a:ext cx="61914" cy="57103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00D7822-8D19-498B-D8A5-EAA40429CAA2}"/>
              </a:ext>
            </a:extLst>
          </p:cNvPr>
          <p:cNvSpPr txBox="1"/>
          <p:nvPr/>
        </p:nvSpPr>
        <p:spPr>
          <a:xfrm rot="19150779">
            <a:off x="3269840" y="3891040"/>
            <a:ext cx="31920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 b="1" dirty="0"/>
              <a:t>Years</a:t>
            </a:r>
            <a:endParaRPr lang="en-US" sz="400" b="1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AE498-B1AA-0212-DD13-574DC9B0241B}"/>
              </a:ext>
            </a:extLst>
          </p:cNvPr>
          <p:cNvSpPr txBox="1"/>
          <p:nvPr/>
        </p:nvSpPr>
        <p:spPr>
          <a:xfrm>
            <a:off x="6198516" y="4702965"/>
            <a:ext cx="538609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Blue whale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CA5C953-1766-A0B2-1491-4143E5FDC694}"/>
              </a:ext>
            </a:extLst>
          </p:cNvPr>
          <p:cNvCxnSpPr>
            <a:cxnSpLocks/>
            <a:stCxn id="69" idx="2"/>
            <a:endCxn id="68" idx="6"/>
          </p:cNvCxnSpPr>
          <p:nvPr/>
        </p:nvCxnSpPr>
        <p:spPr>
          <a:xfrm flipH="1">
            <a:off x="4332650" y="3060963"/>
            <a:ext cx="232292" cy="503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0D051B9-DF3B-0FA6-1F38-2105B9E4777C}"/>
              </a:ext>
            </a:extLst>
          </p:cNvPr>
          <p:cNvSpPr txBox="1"/>
          <p:nvPr/>
        </p:nvSpPr>
        <p:spPr>
          <a:xfrm rot="20951000">
            <a:off x="4419838" y="3084918"/>
            <a:ext cx="283650" cy="9233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600" dirty="0">
                <a:solidFill>
                  <a:schemeClr val="accent6"/>
                </a:solidFill>
                <a:latin typeface="+mn-lt"/>
              </a:rPr>
              <a:t>d = 7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AC4CFF2-BC97-F50D-B7CD-D9A4C376C5B6}"/>
              </a:ext>
            </a:extLst>
          </p:cNvPr>
          <p:cNvCxnSpPr>
            <a:cxnSpLocks/>
            <a:stCxn id="68" idx="5"/>
            <a:endCxn id="74" idx="1"/>
          </p:cNvCxnSpPr>
          <p:nvPr/>
        </p:nvCxnSpPr>
        <p:spPr>
          <a:xfrm>
            <a:off x="4323583" y="3133728"/>
            <a:ext cx="2049911" cy="14506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9DA15F2-B8D4-BCA6-CB17-25117A8B5A23}"/>
              </a:ext>
            </a:extLst>
          </p:cNvPr>
          <p:cNvSpPr txBox="1"/>
          <p:nvPr/>
        </p:nvSpPr>
        <p:spPr>
          <a:xfrm rot="2196564">
            <a:off x="5118746" y="3887927"/>
            <a:ext cx="451729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800" dirty="0">
                <a:solidFill>
                  <a:schemeClr val="accent6"/>
                </a:solidFill>
                <a:latin typeface="+mn-lt"/>
              </a:rPr>
              <a:t>d = 82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BE0E3E-1A68-A24D-CC6A-4F1330D9E497}"/>
              </a:ext>
            </a:extLst>
          </p:cNvPr>
          <p:cNvSpPr txBox="1"/>
          <p:nvPr/>
        </p:nvSpPr>
        <p:spPr>
          <a:xfrm>
            <a:off x="3306736" y="2061129"/>
            <a:ext cx="440826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Millipede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9CBFFCD-0446-A475-34F0-09EC313677FC}"/>
              </a:ext>
            </a:extLst>
          </p:cNvPr>
          <p:cNvCxnSpPr>
            <a:stCxn id="75" idx="5"/>
            <a:endCxn id="74" idx="0"/>
          </p:cNvCxnSpPr>
          <p:nvPr/>
        </p:nvCxnSpPr>
        <p:spPr>
          <a:xfrm>
            <a:off x="3801995" y="2055586"/>
            <a:ext cx="2593389" cy="251953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42D5A66-8A7B-53F8-AAFF-4F9C84F3051D}"/>
              </a:ext>
            </a:extLst>
          </p:cNvPr>
          <p:cNvSpPr txBox="1"/>
          <p:nvPr/>
        </p:nvSpPr>
        <p:spPr>
          <a:xfrm rot="2679333">
            <a:off x="4891250" y="3134794"/>
            <a:ext cx="451729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800" dirty="0">
                <a:solidFill>
                  <a:schemeClr val="accent6"/>
                </a:solidFill>
                <a:latin typeface="+mn-lt"/>
              </a:rPr>
              <a:t>d = 221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B5709B-3EE6-D9DD-582E-36593F5B4C33}"/>
              </a:ext>
            </a:extLst>
          </p:cNvPr>
          <p:cNvSpPr txBox="1"/>
          <p:nvPr/>
        </p:nvSpPr>
        <p:spPr>
          <a:xfrm>
            <a:off x="3834273" y="2787920"/>
            <a:ext cx="182742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Fox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1A9D437-7532-C1AD-9E7C-8FBD95FED129}"/>
              </a:ext>
            </a:extLst>
          </p:cNvPr>
          <p:cNvCxnSpPr>
            <a:cxnSpLocks/>
            <a:stCxn id="67" idx="4"/>
            <a:endCxn id="68" idx="1"/>
          </p:cNvCxnSpPr>
          <p:nvPr/>
        </p:nvCxnSpPr>
        <p:spPr>
          <a:xfrm>
            <a:off x="4189758" y="2896474"/>
            <a:ext cx="90046" cy="1923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B5491DA-BCDD-6117-D978-36D99776D2F0}"/>
              </a:ext>
            </a:extLst>
          </p:cNvPr>
          <p:cNvCxnSpPr>
            <a:stCxn id="67" idx="6"/>
            <a:endCxn id="69" idx="1"/>
          </p:cNvCxnSpPr>
          <p:nvPr/>
        </p:nvCxnSpPr>
        <p:spPr>
          <a:xfrm>
            <a:off x="4220714" y="2864740"/>
            <a:ext cx="353295" cy="1737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75BD62DC-516E-C5F3-8C01-40D79083B128}"/>
              </a:ext>
            </a:extLst>
          </p:cNvPr>
          <p:cNvSpPr txBox="1"/>
          <p:nvPr/>
        </p:nvSpPr>
        <p:spPr>
          <a:xfrm rot="1710364">
            <a:off x="4322729" y="2884671"/>
            <a:ext cx="283650" cy="9233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600" dirty="0">
                <a:solidFill>
                  <a:schemeClr val="accent6"/>
                </a:solidFill>
                <a:latin typeface="+mn-lt"/>
              </a:rPr>
              <a:t>d = 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4EF560B-3644-4F14-03D0-ECF862FBB820}"/>
              </a:ext>
            </a:extLst>
          </p:cNvPr>
          <p:cNvSpPr txBox="1"/>
          <p:nvPr/>
        </p:nvSpPr>
        <p:spPr>
          <a:xfrm rot="4337757">
            <a:off x="4019470" y="3034458"/>
            <a:ext cx="326576" cy="9233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600" dirty="0">
                <a:solidFill>
                  <a:schemeClr val="accent6"/>
                </a:solidFill>
                <a:latin typeface="+mn-lt"/>
              </a:rPr>
              <a:t>d = 10</a:t>
            </a:r>
          </a:p>
        </p:txBody>
      </p:sp>
    </p:spTree>
    <p:extLst>
      <p:ext uri="{BB962C8B-B14F-4D97-AF65-F5344CB8AC3E}">
        <p14:creationId xmlns:p14="http://schemas.microsoft.com/office/powerpoint/2010/main" val="8744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31" grpId="0"/>
      <p:bldP spid="31" grpId="1"/>
      <p:bldP spid="40" grpId="0"/>
      <p:bldP spid="41" grpId="0"/>
      <p:bldP spid="45" grpId="0"/>
      <p:bldP spid="76" grpId="0"/>
      <p:bldP spid="76" grpId="1"/>
      <p:bldP spid="7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03F6F-2451-D053-DB9D-53F8CCD85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4EEC1-75D7-4699-21D1-CF07A0E8A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latin typeface="Bebas Neue"/>
              </a:rPr>
              <a:t>How can we represent words?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F2C1E-9F45-754D-1F8D-5662613D1D12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IE" dirty="0"/>
              <a:t>We don’t need to measure the distance, we can calculate it!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372FE6-CFB4-7381-4EC7-0BC3FED37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15</a:t>
            </a:fld>
            <a:endParaRPr lang="en-GB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71E969C-ABA1-71ED-D316-B6F7C665BC7E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19400" y="2418556"/>
            <a:ext cx="3505200" cy="1009650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73B248-624F-EDBD-05F5-9F6DB997B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8957" y="1928812"/>
            <a:ext cx="3505200" cy="1009650"/>
          </a:xfrm>
          <a:prstGeom prst="rect">
            <a:avLst/>
          </a:prstGeom>
        </p:spPr>
      </p:pic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1E297BA7-74E8-87D8-5CB7-9DD847BEC9F5}"/>
              </a:ext>
            </a:extLst>
          </p:cNvPr>
          <p:cNvSpPr txBox="1">
            <a:spLocks/>
          </p:cNvSpPr>
          <p:nvPr/>
        </p:nvSpPr>
        <p:spPr>
          <a:xfrm>
            <a:off x="360000" y="1410891"/>
            <a:ext cx="8424000" cy="30242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1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b="0" dirty="0">
              <a:solidFill>
                <a:srgbClr val="537992"/>
              </a:solidFill>
            </a:endParaRP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944C6149-2FD4-97CD-634A-18C785A03F95}"/>
              </a:ext>
            </a:extLst>
          </p:cNvPr>
          <p:cNvSpPr txBox="1">
            <a:spLocks/>
          </p:cNvSpPr>
          <p:nvPr/>
        </p:nvSpPr>
        <p:spPr>
          <a:xfrm>
            <a:off x="3727450" y="2715024"/>
            <a:ext cx="8424000" cy="30242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1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E" b="0" dirty="0">
              <a:solidFill>
                <a:srgbClr val="537992"/>
              </a:solidFill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21A69347-542D-8ACC-DEC2-F0626A2858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95637" y="2433637"/>
            <a:ext cx="2752725" cy="2762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E779D90-0F93-D37B-3C14-8A05D1F086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8957" y="3415535"/>
            <a:ext cx="4037204" cy="41076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91C0122-5AE4-670D-8840-679AFB18C595}"/>
              </a:ext>
            </a:extLst>
          </p:cNvPr>
          <p:cNvSpPr txBox="1"/>
          <p:nvPr/>
        </p:nvSpPr>
        <p:spPr>
          <a:xfrm>
            <a:off x="544037" y="3513194"/>
            <a:ext cx="2175275" cy="21544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In a 3-dimensional 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space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08C356-D71E-8DFA-AAB1-C869E79D49F2}"/>
              </a:ext>
            </a:extLst>
          </p:cNvPr>
          <p:cNvSpPr txBox="1"/>
          <p:nvPr/>
        </p:nvSpPr>
        <p:spPr>
          <a:xfrm>
            <a:off x="454660" y="2329680"/>
            <a:ext cx="65455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In general: </a:t>
            </a:r>
          </a:p>
        </p:txBody>
      </p:sp>
    </p:spTree>
    <p:extLst>
      <p:ext uri="{BB962C8B-B14F-4D97-AF65-F5344CB8AC3E}">
        <p14:creationId xmlns:p14="http://schemas.microsoft.com/office/powerpoint/2010/main" val="3302899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A616B-3E7D-3F3A-B7D6-AE137F57B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724C8-9E2B-C5DB-E0E0-0144E6180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latin typeface="Bebas Neue"/>
              </a:rPr>
              <a:t>How can we represent words?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44214-CA5B-6D84-96B1-AEDDF4DC9B7A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IE" dirty="0"/>
              <a:t>We don’t need to measure the distance, we can calculate it!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8FBB60-5A3F-DA31-55CE-5F359C8D3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16</a:t>
            </a:fld>
            <a:endParaRPr lang="en-GB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BB1D9BF-5730-A4BA-7B6A-5E8681DA457C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19400" y="2418556"/>
            <a:ext cx="3505200" cy="1009650"/>
          </a:xfrm>
        </p:spPr>
      </p:pic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0A541E58-8CF1-47D8-384A-6182C2F83B5B}"/>
              </a:ext>
            </a:extLst>
          </p:cNvPr>
          <p:cNvSpPr txBox="1">
            <a:spLocks/>
          </p:cNvSpPr>
          <p:nvPr/>
        </p:nvSpPr>
        <p:spPr>
          <a:xfrm>
            <a:off x="360000" y="1410891"/>
            <a:ext cx="8424000" cy="30242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1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b="0" dirty="0">
              <a:solidFill>
                <a:srgbClr val="537992"/>
              </a:solidFill>
            </a:endParaRP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AE96B0FD-C8D0-D4FE-6EF2-97064D3F7259}"/>
              </a:ext>
            </a:extLst>
          </p:cNvPr>
          <p:cNvSpPr txBox="1">
            <a:spLocks/>
          </p:cNvSpPr>
          <p:nvPr/>
        </p:nvSpPr>
        <p:spPr>
          <a:xfrm>
            <a:off x="3727450" y="2715024"/>
            <a:ext cx="8424000" cy="30242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1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E" b="0" dirty="0">
              <a:solidFill>
                <a:srgbClr val="537992"/>
              </a:solidFill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CAF5236-D344-3487-14C5-CC181F619B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95637" y="2433637"/>
            <a:ext cx="2752725" cy="2762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5E063A-F59D-7953-05F8-260844A0E62B}"/>
              </a:ext>
            </a:extLst>
          </p:cNvPr>
          <p:cNvSpPr txBox="1"/>
          <p:nvPr/>
        </p:nvSpPr>
        <p:spPr>
          <a:xfrm>
            <a:off x="360000" y="1605023"/>
            <a:ext cx="2249014" cy="21544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In a 3-dimensional space: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7E8E8B-E4C9-84BB-F27B-1C0AF41A8E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6157" y="1503962"/>
            <a:ext cx="4037204" cy="4107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561FB4-4C97-D5E3-8A4D-8C8C385C8C71}"/>
              </a:ext>
            </a:extLst>
          </p:cNvPr>
          <p:cNvSpPr txBox="1"/>
          <p:nvPr/>
        </p:nvSpPr>
        <p:spPr>
          <a:xfrm>
            <a:off x="352144" y="2599850"/>
            <a:ext cx="3164013" cy="64633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Dog        = ( </a:t>
            </a:r>
            <a:r>
              <a:rPr lang="en-US" sz="1400" dirty="0">
                <a:solidFill>
                  <a:srgbClr val="FFC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</a:t>
            </a: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, </a:t>
            </a:r>
            <a:r>
              <a:rPr lang="en-US" sz="1400" dirty="0">
                <a:solidFill>
                  <a:srgbClr val="FFC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4</a:t>
            </a: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sz="1400" dirty="0">
                <a:solidFill>
                  <a:srgbClr val="FFC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13</a:t>
            </a: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Wolf       = ( </a:t>
            </a:r>
            <a:r>
              <a:rPr lang="en-US" sz="1400" dirty="0">
                <a:solidFill>
                  <a:srgbClr val="7030A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1.5</a:t>
            </a: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sz="1400" dirty="0">
                <a:solidFill>
                  <a:srgbClr val="7030A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4</a:t>
            </a: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,  </a:t>
            </a:r>
            <a:r>
              <a:rPr lang="en-US" sz="1400" dirty="0">
                <a:solidFill>
                  <a:srgbClr val="7030A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6</a:t>
            </a: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Blue whale = (</a:t>
            </a:r>
            <a:r>
              <a:rPr lang="en-US" sz="1400" dirty="0">
                <a:solidFill>
                  <a:srgbClr val="00B05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30</a:t>
            </a: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, </a:t>
            </a:r>
            <a:r>
              <a:rPr lang="en-US" sz="1400" dirty="0">
                <a:solidFill>
                  <a:srgbClr val="00B05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0</a:t>
            </a: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sz="1400" dirty="0">
                <a:solidFill>
                  <a:srgbClr val="00B05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90</a:t>
            </a: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F30067-C6F9-AC35-E1A5-F6EA876239A6}"/>
                  </a:ext>
                </a:extLst>
              </p:cNvPr>
              <p:cNvSpPr txBox="1"/>
              <p:nvPr/>
            </p:nvSpPr>
            <p:spPr>
              <a:xfrm>
                <a:off x="915115" y="3568344"/>
                <a:ext cx="7779305" cy="7372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d(</a:t>
                </a:r>
                <a:r>
                  <a:rPr lang="en-US" sz="1400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Wolf,Dog</a:t>
                </a:r>
                <a:r>
                  <a:rPr lang="en-US" sz="14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)      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scadia Mono" panose="020B0609020000020004" pitchFamily="49" charset="0"/>
                            <a:cs typeface="Cascadia Mono" panose="020B0609020000020004" pitchFamily="49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(</m:t>
                            </m:r>
                            <m:r>
                              <a:rPr lang="en-US" sz="140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1.5</m:t>
                            </m:r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−</m:t>
                            </m:r>
                            <m:r>
                              <a:rPr lang="en-US" sz="14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1</m:t>
                            </m:r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scadia Mono" panose="020B0609020000020004" pitchFamily="49" charset="0"/>
                            <a:cs typeface="Cascadia Mono" panose="020B0609020000020004" pitchFamily="49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(</m:t>
                            </m:r>
                            <m:r>
                              <a:rPr lang="en-US" sz="1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4</m:t>
                            </m:r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−</m:t>
                            </m:r>
                            <m:r>
                              <a:rPr lang="en-US" sz="14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4</m:t>
                            </m:r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scadia Mono" panose="020B0609020000020004" pitchFamily="49" charset="0"/>
                            <a:cs typeface="Cascadia Mono" panose="020B0609020000020004" pitchFamily="49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(</m:t>
                            </m:r>
                            <m:r>
                              <a:rPr lang="en-US" sz="14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6</m:t>
                            </m:r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−</m:t>
                            </m:r>
                            <m:r>
                              <a:rPr lang="en-US" sz="14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13</m:t>
                            </m:r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scadia Mono" panose="020B0609020000020004" pitchFamily="49" charset="0"/>
                            <a:cs typeface="Cascadia Mono" panose="020B0609020000020004" pitchFamily="49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0.5</m:t>
                            </m:r>
                          </m:e>
                          <m:sup>
                            <m:r>
                              <a:rPr lang="en-US" sz="1400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scadia Mono" panose="020B0609020000020004" pitchFamily="49" charset="0"/>
                            <a:cs typeface="Cascadia Mono" panose="020B0609020000020004" pitchFamily="49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b="0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sz="1400" b="0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b="0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scadia Mono" panose="020B0609020000020004" pitchFamily="49" charset="0"/>
                            <a:cs typeface="Cascadia Mono" panose="020B0609020000020004" pitchFamily="49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b="0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US" sz="1400" b="0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sz="1400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scadia Mono" panose="020B0609020000020004" pitchFamily="49" charset="0"/>
                        <a:cs typeface="Cascadia Mono" panose="020B0609020000020004" pitchFamily="49" charset="0"/>
                      </a:rPr>
                      <m:t>  </m:t>
                    </m:r>
                    <m:r>
                      <a:rPr lang="en-US" sz="1400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scadia Mono" panose="020B0609020000020004" pitchFamily="49" charset="0"/>
                      </a:rPr>
                      <m:t>≈  7.018</m:t>
                    </m:r>
                  </m:oMath>
                </a14:m>
                <a:endPara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endParaRPr>
              </a:p>
              <a:p>
                <a:pPr marL="171450" indent="-171450" algn="l">
                  <a:buFont typeface="Wingdings" panose="05000000000000000000" pitchFamily="2" charset="2"/>
                  <a:buChar char="Ø"/>
                </a:pPr>
                <a:endPara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endParaRPr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sz="14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d(Blue </a:t>
                </a:r>
                <a:r>
                  <a:rPr lang="en-US" sz="1400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whale,Dog</a:t>
                </a:r>
                <a:r>
                  <a:rPr lang="en-US" sz="14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)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scadia Mono" panose="020B0609020000020004" pitchFamily="49" charset="0"/>
                            <a:cs typeface="Cascadia Mono" panose="020B0609020000020004" pitchFamily="49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(</m:t>
                            </m:r>
                            <m:r>
                              <a:rPr lang="en-US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30</m:t>
                            </m:r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−</m:t>
                            </m:r>
                            <m:r>
                              <a:rPr lang="en-US" sz="14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1</m:t>
                            </m:r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scadia Mono" panose="020B0609020000020004" pitchFamily="49" charset="0"/>
                            <a:cs typeface="Cascadia Mono" panose="020B0609020000020004" pitchFamily="49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(</m:t>
                            </m:r>
                            <m:r>
                              <a:rPr lang="en-US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0</m:t>
                            </m:r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−</m:t>
                            </m:r>
                            <m:r>
                              <a:rPr lang="en-US" sz="14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4</m:t>
                            </m:r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scadia Mono" panose="020B0609020000020004" pitchFamily="49" charset="0"/>
                            <a:cs typeface="Cascadia Mono" panose="020B0609020000020004" pitchFamily="49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(</m:t>
                            </m:r>
                            <m:r>
                              <a:rPr lang="en-US" sz="1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90</m:t>
                            </m:r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−</m:t>
                            </m:r>
                            <m:r>
                              <a:rPr lang="en-US" sz="14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13</m:t>
                            </m:r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scadia Mono" panose="020B0609020000020004" pitchFamily="49" charset="0"/>
                            <a:cs typeface="Cascadia Mono" panose="020B0609020000020004" pitchFamily="49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29</m:t>
                            </m:r>
                          </m:e>
                          <m:sup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scadia Mono" panose="020B0609020000020004" pitchFamily="49" charset="0"/>
                            <a:cs typeface="Cascadia Mono" panose="020B0609020000020004" pitchFamily="49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(−4)</m:t>
                            </m:r>
                          </m:e>
                          <m:sup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400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scadia Mono" panose="020B0609020000020004" pitchFamily="49" charset="0"/>
                            <a:cs typeface="Cascadia Mono" panose="020B0609020000020004" pitchFamily="49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77</m:t>
                            </m:r>
                          </m:e>
                          <m:sup>
                            <m:r>
                              <a:rPr lang="en-US" sz="1400" i="1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scadia Mono" panose="020B0609020000020004" pitchFamily="49" charset="0"/>
                                <a:cs typeface="Cascadia Mono" panose="020B0609020000020004" pitchFamily="49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sz="1400" i="1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scadia Mono" panose="020B0609020000020004" pitchFamily="49" charset="0"/>
                        <a:cs typeface="Cascadia Mono" panose="020B0609020000020004" pitchFamily="49" charset="0"/>
                      </a:rPr>
                      <m:t>  </m:t>
                    </m:r>
                    <m:r>
                      <a:rPr lang="en-US" sz="1400" i="1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scadia Mono" panose="020B0609020000020004" pitchFamily="49" charset="0"/>
                      </a:rPr>
                      <m:t>≈  </m:t>
                    </m:r>
                    <m:r>
                      <a:rPr lang="en-US" sz="1400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scadia Mono" panose="020B0609020000020004" pitchFamily="49" charset="0"/>
                      </a:rPr>
                      <m:t>82.38</m:t>
                    </m:r>
                  </m:oMath>
                </a14:m>
                <a:endParaRPr lang="en-US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F30067-C6F9-AC35-E1A5-F6EA87623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115" y="3568344"/>
                <a:ext cx="7779305" cy="737253"/>
              </a:xfrm>
              <a:prstGeom prst="rect">
                <a:avLst/>
              </a:prstGeom>
              <a:blipFill>
                <a:blip r:embed="rId7"/>
                <a:stretch>
                  <a:fillRect l="-1254" t="-1653" b="-140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212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C0446-B653-1069-55C5-2D6934B0C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693C2-7457-DF7E-4DDE-0CB2318F2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latin typeface="Bebas Neue"/>
              </a:rPr>
              <a:t>How can we represent words?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EB665-983C-9DF2-0861-86D210DD0ACF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IE" dirty="0"/>
              <a:t>What does that have to do with language models?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51ACD1-592A-8D33-D49C-3C31CB573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0E0A8576-B088-B68B-8011-3C13DBD2AC14}"/>
              </a:ext>
            </a:extLst>
          </p:cNvPr>
          <p:cNvSpPr txBox="1">
            <a:spLocks/>
          </p:cNvSpPr>
          <p:nvPr/>
        </p:nvSpPr>
        <p:spPr>
          <a:xfrm>
            <a:off x="360000" y="1410891"/>
            <a:ext cx="8424000" cy="30242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1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b="0" dirty="0">
              <a:solidFill>
                <a:srgbClr val="537992"/>
              </a:solidFill>
            </a:endParaRP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4E9B7BDD-3C5D-6AED-7CDB-318508990A21}"/>
              </a:ext>
            </a:extLst>
          </p:cNvPr>
          <p:cNvSpPr txBox="1">
            <a:spLocks/>
          </p:cNvSpPr>
          <p:nvPr/>
        </p:nvSpPr>
        <p:spPr>
          <a:xfrm>
            <a:off x="3727450" y="2715024"/>
            <a:ext cx="8424000" cy="30242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1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E" b="0" dirty="0">
              <a:solidFill>
                <a:srgbClr val="537992"/>
              </a:solidFill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FB1A3C87-126E-37E1-952C-05183AB643BD}"/>
              </a:ext>
            </a:extLst>
          </p:cNvPr>
          <p:cNvSpPr txBox="1">
            <a:spLocks/>
          </p:cNvSpPr>
          <p:nvPr/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4669F32-90E1-ED4F-B6D9-07697D6A4E9E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E1AF742E-A6EB-A6C6-E7CA-2EF0748FBE1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0000" y="1410891"/>
            <a:ext cx="8424000" cy="3024250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The same idea to represent words!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A few differences:</a:t>
            </a:r>
          </a:p>
          <a:p>
            <a:pPr marL="688975" lvl="4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E" dirty="0">
                <a:solidFill>
                  <a:srgbClr val="537992"/>
                </a:solidFill>
              </a:rPr>
              <a:t>Not only animals!</a:t>
            </a:r>
          </a:p>
          <a:p>
            <a:pPr marL="688975" lvl="4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E" dirty="0">
                <a:solidFill>
                  <a:srgbClr val="537992"/>
                </a:solidFill>
              </a:rPr>
              <a:t>A lot more dimensions!</a:t>
            </a:r>
            <a:endParaRPr lang="en-IE" b="0" dirty="0">
              <a:solidFill>
                <a:srgbClr val="537992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8602666-112F-C0C8-EB8D-54D36C96B8DD}"/>
              </a:ext>
            </a:extLst>
          </p:cNvPr>
          <p:cNvCxnSpPr>
            <a:cxnSpLocks/>
          </p:cNvCxnSpPr>
          <p:nvPr/>
        </p:nvCxnSpPr>
        <p:spPr>
          <a:xfrm>
            <a:off x="5198549" y="3333014"/>
            <a:ext cx="3534657" cy="156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4C0551D-9B92-7BDC-4F41-FA5D6F7C567A}"/>
              </a:ext>
            </a:extLst>
          </p:cNvPr>
          <p:cNvSpPr txBox="1"/>
          <p:nvPr/>
        </p:nvSpPr>
        <p:spPr>
          <a:xfrm>
            <a:off x="5185096" y="3335769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0</a:t>
            </a:r>
            <a:endParaRPr lang="en-US" sz="800" b="1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3E2CA6-EE5E-16AD-BA1A-7DECCCB63BFD}"/>
              </a:ext>
            </a:extLst>
          </p:cNvPr>
          <p:cNvSpPr txBox="1"/>
          <p:nvPr/>
        </p:nvSpPr>
        <p:spPr>
          <a:xfrm>
            <a:off x="8506326" y="3393431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30</a:t>
            </a:r>
            <a:endParaRPr lang="en-US" sz="800" b="1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EF1DE3-65D5-0242-2B90-10DD940B0837}"/>
              </a:ext>
            </a:extLst>
          </p:cNvPr>
          <p:cNvSpPr txBox="1"/>
          <p:nvPr/>
        </p:nvSpPr>
        <p:spPr>
          <a:xfrm>
            <a:off x="6855102" y="3382608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900" b="1" dirty="0" err="1">
                <a:latin typeface="+mn-lt"/>
              </a:rPr>
              <a:t>Metres</a:t>
            </a:r>
            <a:endParaRPr lang="en-US" sz="900" b="1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B12EB5-579E-2B73-0CB6-A7DA2D4539CF}"/>
              </a:ext>
            </a:extLst>
          </p:cNvPr>
          <p:cNvSpPr txBox="1"/>
          <p:nvPr/>
        </p:nvSpPr>
        <p:spPr>
          <a:xfrm>
            <a:off x="4726628" y="3222968"/>
            <a:ext cx="246862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Snail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6F821-49D8-F4E7-A288-7B2DBD401585}"/>
              </a:ext>
            </a:extLst>
          </p:cNvPr>
          <p:cNvSpPr txBox="1"/>
          <p:nvPr/>
        </p:nvSpPr>
        <p:spPr>
          <a:xfrm>
            <a:off x="4468031" y="1840070"/>
            <a:ext cx="440826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Millipede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841945-425E-464A-9A0C-2B210E0EDEF1}"/>
              </a:ext>
            </a:extLst>
          </p:cNvPr>
          <p:cNvSpPr txBox="1"/>
          <p:nvPr/>
        </p:nvSpPr>
        <p:spPr>
          <a:xfrm>
            <a:off x="6824844" y="3887043"/>
            <a:ext cx="496931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Anaconda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5187B9-242F-A1F2-599D-5467FACC665B}"/>
              </a:ext>
            </a:extLst>
          </p:cNvPr>
          <p:cNvSpPr txBox="1"/>
          <p:nvPr/>
        </p:nvSpPr>
        <p:spPr>
          <a:xfrm>
            <a:off x="4735165" y="2965456"/>
            <a:ext cx="209805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Cat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38B930-AF65-B9BD-09B8-850A22D17408}"/>
              </a:ext>
            </a:extLst>
          </p:cNvPr>
          <p:cNvSpPr txBox="1"/>
          <p:nvPr/>
        </p:nvSpPr>
        <p:spPr>
          <a:xfrm>
            <a:off x="5280991" y="2916141"/>
            <a:ext cx="198772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Dog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422E33-D0C0-2A7C-B395-64206A957088}"/>
              </a:ext>
            </a:extLst>
          </p:cNvPr>
          <p:cNvSpPr txBox="1"/>
          <p:nvPr/>
        </p:nvSpPr>
        <p:spPr>
          <a:xfrm>
            <a:off x="5223820" y="2642574"/>
            <a:ext cx="182742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Fox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DE6BAC-61F6-22E8-129B-2D673AF94855}"/>
              </a:ext>
            </a:extLst>
          </p:cNvPr>
          <p:cNvSpPr txBox="1"/>
          <p:nvPr/>
        </p:nvSpPr>
        <p:spPr>
          <a:xfrm>
            <a:off x="5603304" y="2880220"/>
            <a:ext cx="221214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Wolf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605D5D-1002-B6BA-E0B4-F4F2DB94971C}"/>
              </a:ext>
            </a:extLst>
          </p:cNvPr>
          <p:cNvSpPr txBox="1"/>
          <p:nvPr/>
        </p:nvSpPr>
        <p:spPr>
          <a:xfrm>
            <a:off x="7359811" y="4481906"/>
            <a:ext cx="538609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Blue whale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EF560F-A86E-B184-36BC-F14308F54D8B}"/>
              </a:ext>
            </a:extLst>
          </p:cNvPr>
          <p:cNvSpPr txBox="1"/>
          <p:nvPr/>
        </p:nvSpPr>
        <p:spPr>
          <a:xfrm>
            <a:off x="6376142" y="4195700"/>
            <a:ext cx="583493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</a:rPr>
              <a:t>White shark</a:t>
            </a:r>
            <a:endParaRPr lang="en-US" sz="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9EAEC8-9D03-2F44-E8C0-B3D5F9E67B6C}"/>
              </a:ext>
            </a:extLst>
          </p:cNvPr>
          <p:cNvSpPr txBox="1"/>
          <p:nvPr/>
        </p:nvSpPr>
        <p:spPr>
          <a:xfrm>
            <a:off x="5772034" y="3359363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1</a:t>
            </a:r>
            <a:endParaRPr lang="en-US" sz="800" b="1" dirty="0">
              <a:latin typeface="+mn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A213E5-5152-A69A-4C4A-E3FE153AD864}"/>
              </a:ext>
            </a:extLst>
          </p:cNvPr>
          <p:cNvSpPr txBox="1"/>
          <p:nvPr/>
        </p:nvSpPr>
        <p:spPr>
          <a:xfrm>
            <a:off x="4906974" y="3663798"/>
            <a:ext cx="556243" cy="24622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ctr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Galapagos </a:t>
            </a:r>
            <a:b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Tortoise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3E306E-3F85-D498-588B-0B88E189182C}"/>
              </a:ext>
            </a:extLst>
          </p:cNvPr>
          <p:cNvSpPr txBox="1"/>
          <p:nvPr/>
        </p:nvSpPr>
        <p:spPr>
          <a:xfrm>
            <a:off x="6324451" y="3362885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87C73F-D189-B026-A1E4-F084242512AE}"/>
              </a:ext>
            </a:extLst>
          </p:cNvPr>
          <p:cNvSpPr txBox="1"/>
          <p:nvPr/>
        </p:nvSpPr>
        <p:spPr>
          <a:xfrm>
            <a:off x="7401491" y="3393431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5</a:t>
            </a:r>
            <a:endParaRPr lang="en-US" sz="800" b="1" dirty="0">
              <a:latin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DE91A5-90E8-649E-E9CC-8FDD14F37407}"/>
              </a:ext>
            </a:extLst>
          </p:cNvPr>
          <p:cNvSpPr txBox="1"/>
          <p:nvPr/>
        </p:nvSpPr>
        <p:spPr>
          <a:xfrm>
            <a:off x="4261383" y="3643708"/>
            <a:ext cx="209805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Ara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C77430A-C253-C3D5-9363-A02FFE9B223B}"/>
              </a:ext>
            </a:extLst>
          </p:cNvPr>
          <p:cNvCxnSpPr>
            <a:cxnSpLocks/>
          </p:cNvCxnSpPr>
          <p:nvPr/>
        </p:nvCxnSpPr>
        <p:spPr>
          <a:xfrm flipV="1">
            <a:off x="5198549" y="1410891"/>
            <a:ext cx="0" cy="19299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328DE2D-84E3-1BF2-893F-4ACA895827FD}"/>
              </a:ext>
            </a:extLst>
          </p:cNvPr>
          <p:cNvSpPr txBox="1"/>
          <p:nvPr/>
        </p:nvSpPr>
        <p:spPr>
          <a:xfrm rot="5400000">
            <a:off x="4659113" y="2389882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900" b="1" dirty="0">
                <a:latin typeface="+mn-lt"/>
              </a:rPr>
              <a:t>Number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AB9D22-56FA-6A79-1842-3CE8295B46C4}"/>
              </a:ext>
            </a:extLst>
          </p:cNvPr>
          <p:cNvSpPr txBox="1"/>
          <p:nvPr/>
        </p:nvSpPr>
        <p:spPr>
          <a:xfrm rot="5400000">
            <a:off x="4934815" y="1353124"/>
            <a:ext cx="329919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100+</a:t>
            </a:r>
            <a:endParaRPr lang="en-US" sz="800" b="1" dirty="0">
              <a:latin typeface="+mn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642352-A1BC-AE73-A3B7-0B8A9A732499}"/>
              </a:ext>
            </a:extLst>
          </p:cNvPr>
          <p:cNvSpPr txBox="1"/>
          <p:nvPr/>
        </p:nvSpPr>
        <p:spPr>
          <a:xfrm rot="5400000">
            <a:off x="4994711" y="3084257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1</a:t>
            </a:r>
            <a:endParaRPr lang="en-US" sz="800" b="1" dirty="0">
              <a:latin typeface="+mn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CD2D80-1D7C-23ED-3F31-1868CC4838CF}"/>
              </a:ext>
            </a:extLst>
          </p:cNvPr>
          <p:cNvSpPr txBox="1"/>
          <p:nvPr/>
        </p:nvSpPr>
        <p:spPr>
          <a:xfrm rot="5400000">
            <a:off x="5001438" y="2912173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486BA0-7EB4-3150-66CC-C520E0B7E80B}"/>
              </a:ext>
            </a:extLst>
          </p:cNvPr>
          <p:cNvSpPr txBox="1"/>
          <p:nvPr/>
        </p:nvSpPr>
        <p:spPr>
          <a:xfrm rot="5400000">
            <a:off x="5003838" y="2503251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4</a:t>
            </a:r>
            <a:endParaRPr lang="en-US" sz="800" b="1" dirty="0">
              <a:latin typeface="+mn-lt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AF80A5B-90A1-51CC-2A9C-CF308CD4A64D}"/>
              </a:ext>
            </a:extLst>
          </p:cNvPr>
          <p:cNvSpPr/>
          <p:nvPr/>
        </p:nvSpPr>
        <p:spPr>
          <a:xfrm>
            <a:off x="5045296" y="3179476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9C820BD-5A7A-CFE9-43C5-AF254AA6111C}"/>
              </a:ext>
            </a:extLst>
          </p:cNvPr>
          <p:cNvSpPr/>
          <p:nvPr/>
        </p:nvSpPr>
        <p:spPr>
          <a:xfrm>
            <a:off x="6691693" y="4113073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A2746B6-77C8-6339-159D-784F917FB8D4}"/>
              </a:ext>
            </a:extLst>
          </p:cNvPr>
          <p:cNvSpPr/>
          <p:nvPr/>
        </p:nvSpPr>
        <p:spPr>
          <a:xfrm>
            <a:off x="4845230" y="2921964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7690B93-4A53-BB3C-3091-2CB61AB7B6D8}"/>
              </a:ext>
            </a:extLst>
          </p:cNvPr>
          <p:cNvSpPr/>
          <p:nvPr/>
        </p:nvSpPr>
        <p:spPr>
          <a:xfrm>
            <a:off x="5320096" y="2611946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7A5E000-37F9-DDE4-062C-91F3E0FA0D8F}"/>
              </a:ext>
            </a:extLst>
          </p:cNvPr>
          <p:cNvSpPr/>
          <p:nvPr/>
        </p:nvSpPr>
        <p:spPr>
          <a:xfrm>
            <a:off x="5432032" y="2858495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B16E344-3BB7-EDAF-B4CF-25F95996BD21}"/>
              </a:ext>
            </a:extLst>
          </p:cNvPr>
          <p:cNvSpPr/>
          <p:nvPr/>
        </p:nvSpPr>
        <p:spPr>
          <a:xfrm>
            <a:off x="5726237" y="2808169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B37D9C2-442A-E2BA-56F7-09560BFE26CE}"/>
              </a:ext>
            </a:extLst>
          </p:cNvPr>
          <p:cNvSpPr/>
          <p:nvPr/>
        </p:nvSpPr>
        <p:spPr>
          <a:xfrm>
            <a:off x="5014340" y="3521107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4EE5D3C-53A0-1683-289B-659386DF80EB}"/>
              </a:ext>
            </a:extLst>
          </p:cNvPr>
          <p:cNvSpPr/>
          <p:nvPr/>
        </p:nvSpPr>
        <p:spPr>
          <a:xfrm>
            <a:off x="4401202" y="3617409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67439F1-659B-C3F8-A766-08FF24800C9D}"/>
              </a:ext>
            </a:extLst>
          </p:cNvPr>
          <p:cNvSpPr/>
          <p:nvPr/>
        </p:nvSpPr>
        <p:spPr>
          <a:xfrm>
            <a:off x="7029377" y="3838096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01A0846-16D8-747D-E8C6-0FE9786AE21D}"/>
              </a:ext>
            </a:extLst>
          </p:cNvPr>
          <p:cNvSpPr/>
          <p:nvPr/>
        </p:nvSpPr>
        <p:spPr>
          <a:xfrm>
            <a:off x="7525722" y="4354061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1E2DD57-5D8C-8416-180B-EFD85FE8E525}"/>
              </a:ext>
            </a:extLst>
          </p:cNvPr>
          <p:cNvSpPr/>
          <p:nvPr/>
        </p:nvSpPr>
        <p:spPr>
          <a:xfrm>
            <a:off x="4910444" y="1780353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810399E-B523-C55A-0A1C-757B7DD3130B}"/>
              </a:ext>
            </a:extLst>
          </p:cNvPr>
          <p:cNvCxnSpPr>
            <a:cxnSpLocks/>
          </p:cNvCxnSpPr>
          <p:nvPr/>
        </p:nvCxnSpPr>
        <p:spPr>
          <a:xfrm flipH="1">
            <a:off x="3727450" y="3343994"/>
            <a:ext cx="1467736" cy="11994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5EDCE9F-9715-FBC6-057A-6827D2F8CFC1}"/>
              </a:ext>
            </a:extLst>
          </p:cNvPr>
          <p:cNvSpPr txBox="1"/>
          <p:nvPr/>
        </p:nvSpPr>
        <p:spPr>
          <a:xfrm rot="19046386">
            <a:off x="4987584" y="3426952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5</a:t>
            </a:r>
            <a:endParaRPr lang="en-US" sz="800" b="1" dirty="0">
              <a:latin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F12E44D-741B-3995-EFD9-27B605C35B45}"/>
              </a:ext>
            </a:extLst>
          </p:cNvPr>
          <p:cNvSpPr txBox="1"/>
          <p:nvPr/>
        </p:nvSpPr>
        <p:spPr>
          <a:xfrm rot="19211568">
            <a:off x="4711784" y="3671109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10</a:t>
            </a:r>
            <a:endParaRPr lang="en-US" sz="800" b="1" dirty="0">
              <a:latin typeface="+mn-l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4666AEE-59EC-1302-F6BE-FCF8C53EC80A}"/>
              </a:ext>
            </a:extLst>
          </p:cNvPr>
          <p:cNvSpPr txBox="1"/>
          <p:nvPr/>
        </p:nvSpPr>
        <p:spPr>
          <a:xfrm rot="19075301">
            <a:off x="4434923" y="3913277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50</a:t>
            </a:r>
            <a:endParaRPr lang="en-US" sz="800" b="1" dirty="0">
              <a:latin typeface="+mn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D1DFD2-C9DE-4532-E835-5EC3AD5BE13E}"/>
              </a:ext>
            </a:extLst>
          </p:cNvPr>
          <p:cNvSpPr txBox="1"/>
          <p:nvPr/>
        </p:nvSpPr>
        <p:spPr>
          <a:xfrm rot="19303965">
            <a:off x="3937589" y="4293028"/>
            <a:ext cx="308332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100+</a:t>
            </a:r>
            <a:endParaRPr lang="en-US" sz="800" b="1" dirty="0">
              <a:latin typeface="+mn-lt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30A108C-5790-B1F2-D953-2513EF361794}"/>
              </a:ext>
            </a:extLst>
          </p:cNvPr>
          <p:cNvCxnSpPr>
            <a:cxnSpLocks/>
          </p:cNvCxnSpPr>
          <p:nvPr/>
        </p:nvCxnSpPr>
        <p:spPr>
          <a:xfrm>
            <a:off x="5198549" y="2483296"/>
            <a:ext cx="1125902" cy="904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9266FF2-27C9-5A4D-1878-99A1621DA855}"/>
              </a:ext>
            </a:extLst>
          </p:cNvPr>
          <p:cNvCxnSpPr>
            <a:cxnSpLocks/>
          </p:cNvCxnSpPr>
          <p:nvPr/>
        </p:nvCxnSpPr>
        <p:spPr>
          <a:xfrm>
            <a:off x="6323370" y="2489710"/>
            <a:ext cx="541" cy="84330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4EF12B5-C8F5-8383-8B96-BD396B791076}"/>
              </a:ext>
            </a:extLst>
          </p:cNvPr>
          <p:cNvCxnSpPr>
            <a:cxnSpLocks/>
            <a:stCxn id="45" idx="1"/>
          </p:cNvCxnSpPr>
          <p:nvPr/>
        </p:nvCxnSpPr>
        <p:spPr>
          <a:xfrm flipV="1">
            <a:off x="5017468" y="2468182"/>
            <a:ext cx="1329725" cy="111244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699C1F6-63BA-011B-C52D-001F910BAEBD}"/>
              </a:ext>
            </a:extLst>
          </p:cNvPr>
          <p:cNvCxnSpPr>
            <a:cxnSpLocks/>
          </p:cNvCxnSpPr>
          <p:nvPr/>
        </p:nvCxnSpPr>
        <p:spPr>
          <a:xfrm>
            <a:off x="3923015" y="3537925"/>
            <a:ext cx="1125902" cy="904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939EFF2-9226-3B1F-A469-6E84CB19E495}"/>
              </a:ext>
            </a:extLst>
          </p:cNvPr>
          <p:cNvCxnSpPr>
            <a:cxnSpLocks/>
          </p:cNvCxnSpPr>
          <p:nvPr/>
        </p:nvCxnSpPr>
        <p:spPr>
          <a:xfrm>
            <a:off x="3936935" y="3528229"/>
            <a:ext cx="541" cy="84330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E782FF6-07A0-B398-9EFD-6488F23139B6}"/>
              </a:ext>
            </a:extLst>
          </p:cNvPr>
          <p:cNvCxnSpPr>
            <a:cxnSpLocks/>
          </p:cNvCxnSpPr>
          <p:nvPr/>
        </p:nvCxnSpPr>
        <p:spPr>
          <a:xfrm flipV="1">
            <a:off x="3927119" y="2440997"/>
            <a:ext cx="1329725" cy="111244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0D9D3D3-6575-CE22-C30C-573F846EE03D}"/>
              </a:ext>
            </a:extLst>
          </p:cNvPr>
          <p:cNvCxnSpPr>
            <a:cxnSpLocks/>
          </p:cNvCxnSpPr>
          <p:nvPr/>
        </p:nvCxnSpPr>
        <p:spPr>
          <a:xfrm flipV="1">
            <a:off x="5050427" y="3290749"/>
            <a:ext cx="1329725" cy="111244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95A730B-66B9-5B86-0F07-3E8AF19D1619}"/>
              </a:ext>
            </a:extLst>
          </p:cNvPr>
          <p:cNvCxnSpPr>
            <a:cxnSpLocks/>
          </p:cNvCxnSpPr>
          <p:nvPr/>
        </p:nvCxnSpPr>
        <p:spPr>
          <a:xfrm>
            <a:off x="3934974" y="4378600"/>
            <a:ext cx="1125902" cy="904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D4CCDF7-3BC2-ABDC-4900-4244F71927A0}"/>
              </a:ext>
            </a:extLst>
          </p:cNvPr>
          <p:cNvCxnSpPr>
            <a:cxnSpLocks/>
          </p:cNvCxnSpPr>
          <p:nvPr/>
        </p:nvCxnSpPr>
        <p:spPr>
          <a:xfrm>
            <a:off x="5057407" y="3550333"/>
            <a:ext cx="541" cy="84330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E85F4549-B09F-AD0E-DD06-B9F265FC10CF}"/>
              </a:ext>
            </a:extLst>
          </p:cNvPr>
          <p:cNvSpPr/>
          <p:nvPr/>
        </p:nvSpPr>
        <p:spPr>
          <a:xfrm>
            <a:off x="4972357" y="3491511"/>
            <a:ext cx="140458" cy="136933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DA1F52-6EC6-2BE5-A98A-CFF204CF09BD}"/>
              </a:ext>
            </a:extLst>
          </p:cNvPr>
          <p:cNvSpPr txBox="1"/>
          <p:nvPr/>
        </p:nvSpPr>
        <p:spPr>
          <a:xfrm rot="19150779">
            <a:off x="4431135" y="3669981"/>
            <a:ext cx="31920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 b="1" dirty="0"/>
              <a:t>Years</a:t>
            </a:r>
            <a:endParaRPr lang="en-US" sz="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83143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0F2F2-342D-1209-A73B-2A7AAFFDD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2887B-8B59-8B61-20FC-FA98045D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latin typeface="Bebas Neue"/>
              </a:rPr>
              <a:t>How can we represent words?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0FFFF-E403-7534-835A-9296F2ECD3F4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IE" dirty="0"/>
              <a:t>What does that have to do with language models?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9E3375-5072-5810-E714-71F37147C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457D6EB3-5909-DB3D-03D1-0B6321696E68}"/>
              </a:ext>
            </a:extLst>
          </p:cNvPr>
          <p:cNvSpPr txBox="1">
            <a:spLocks/>
          </p:cNvSpPr>
          <p:nvPr/>
        </p:nvSpPr>
        <p:spPr>
          <a:xfrm>
            <a:off x="360000" y="1410891"/>
            <a:ext cx="8424000" cy="30242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1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b="0" dirty="0">
              <a:solidFill>
                <a:srgbClr val="537992"/>
              </a:solidFill>
            </a:endParaRP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B501FD5B-E471-82F0-4E86-A9311B131CA2}"/>
              </a:ext>
            </a:extLst>
          </p:cNvPr>
          <p:cNvSpPr txBox="1">
            <a:spLocks/>
          </p:cNvSpPr>
          <p:nvPr/>
        </p:nvSpPr>
        <p:spPr>
          <a:xfrm>
            <a:off x="3727450" y="2715024"/>
            <a:ext cx="8424000" cy="30242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1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E" b="0" dirty="0">
              <a:solidFill>
                <a:srgbClr val="537992"/>
              </a:solidFill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3C10751-ED6B-62E2-20E8-5BC49BFFC66D}"/>
              </a:ext>
            </a:extLst>
          </p:cNvPr>
          <p:cNvSpPr txBox="1">
            <a:spLocks/>
          </p:cNvSpPr>
          <p:nvPr/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4669F32-90E1-ED4F-B6D9-07697D6A4E9E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800EBB87-1D78-7DD7-EC0B-45BBF698CC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0000" y="1410891"/>
            <a:ext cx="8424000" cy="3024250"/>
          </a:xfrm>
        </p:spPr>
        <p:txBody>
          <a:bodyPr vert="horz" lIns="0" tIns="0" rIns="0" bIns="0" rtlCol="0" anchor="t">
            <a:no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Dog   = ( </a:t>
            </a:r>
            <a:r>
              <a:rPr lang="en-US" dirty="0">
                <a:solidFill>
                  <a:srgbClr val="FFC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, </a:t>
            </a:r>
            <a:r>
              <a:rPr lang="en-US" dirty="0">
                <a:solidFill>
                  <a:srgbClr val="FFC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4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dirty="0">
                <a:solidFill>
                  <a:srgbClr val="FFC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13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7A792-5302-CE2D-F15C-33A6F41D4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" y="1476036"/>
            <a:ext cx="7078980" cy="34809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8FDFF1-ADE1-EABA-DB8A-7A69EE6A693C}"/>
              </a:ext>
            </a:extLst>
          </p:cNvPr>
          <p:cNvSpPr txBox="1"/>
          <p:nvPr/>
        </p:nvSpPr>
        <p:spPr>
          <a:xfrm>
            <a:off x="8846820" y="4775945"/>
            <a:ext cx="121920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13956CE-3F89-182B-CEEE-EB229D05C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401145" y="-291553"/>
            <a:ext cx="3749549" cy="70161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C586DF5-6E56-9605-7A4D-08D578DB0DC8}"/>
              </a:ext>
            </a:extLst>
          </p:cNvPr>
          <p:cNvSpPr txBox="1"/>
          <p:nvPr/>
        </p:nvSpPr>
        <p:spPr>
          <a:xfrm>
            <a:off x="558245" y="1811179"/>
            <a:ext cx="1590720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3 Dimensions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2E0E71-31C5-287B-7277-4EC03D5B55F8}"/>
              </a:ext>
            </a:extLst>
          </p:cNvPr>
          <p:cNvSpPr txBox="1"/>
          <p:nvPr/>
        </p:nvSpPr>
        <p:spPr>
          <a:xfrm>
            <a:off x="4198620" y="2854821"/>
            <a:ext cx="1833835" cy="2769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b="1" dirty="0">
                <a:highlight>
                  <a:srgbClr val="FFFF00"/>
                </a:highlight>
                <a:latin typeface="+mn-lt"/>
              </a:rPr>
              <a:t>768 Dimensions!</a:t>
            </a:r>
          </a:p>
        </p:txBody>
      </p:sp>
    </p:spTree>
    <p:extLst>
      <p:ext uri="{BB962C8B-B14F-4D97-AF65-F5344CB8AC3E}">
        <p14:creationId xmlns:p14="http://schemas.microsoft.com/office/powerpoint/2010/main" val="193991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3C825-EFB3-35FF-8F23-5EBDF8E41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E07C4-FDD6-6456-A3CF-223CADC86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latin typeface="Bebas Neue"/>
              </a:rPr>
              <a:t>How can we represent words?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8BF1B-6EC4-866A-3AD9-DADAFFBACCC0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IE" dirty="0"/>
              <a:t>What does that have to do with language models?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270CCF-E338-9A38-8B97-B6822D0FA2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19</a:t>
            </a:fld>
            <a:endParaRPr lang="en-GB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124DC8E-C3D7-34C7-44C0-C7042F4FA4F6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19400" y="2418556"/>
            <a:ext cx="3505200" cy="1009650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BF4826-A1F4-329E-CF08-C25119616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8957" y="1223139"/>
            <a:ext cx="3505200" cy="1009650"/>
          </a:xfrm>
          <a:prstGeom prst="rect">
            <a:avLst/>
          </a:prstGeom>
        </p:spPr>
      </p:pic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DC5A601-C179-050F-6435-291B9FA91288}"/>
              </a:ext>
            </a:extLst>
          </p:cNvPr>
          <p:cNvSpPr txBox="1">
            <a:spLocks/>
          </p:cNvSpPr>
          <p:nvPr/>
        </p:nvSpPr>
        <p:spPr>
          <a:xfrm>
            <a:off x="360000" y="1410891"/>
            <a:ext cx="8424000" cy="30242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1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b="0" dirty="0">
              <a:solidFill>
                <a:srgbClr val="537992"/>
              </a:solidFill>
            </a:endParaRP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C0E0B095-96A5-9D75-2580-75A1ADE3D543}"/>
              </a:ext>
            </a:extLst>
          </p:cNvPr>
          <p:cNvSpPr txBox="1">
            <a:spLocks/>
          </p:cNvSpPr>
          <p:nvPr/>
        </p:nvSpPr>
        <p:spPr>
          <a:xfrm>
            <a:off x="3727450" y="2715024"/>
            <a:ext cx="8424000" cy="30242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1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E" b="0" dirty="0">
              <a:solidFill>
                <a:srgbClr val="537992"/>
              </a:solidFill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276742E-8C01-DCA2-4552-A71C94BDFB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95637" y="2433637"/>
            <a:ext cx="2752725" cy="2762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7C466E-17A2-3E66-0670-D0852922CF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3728" y="2384924"/>
            <a:ext cx="4037204" cy="41076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905C4B0-2179-CBFD-5F3F-8518FA9F66A2}"/>
              </a:ext>
            </a:extLst>
          </p:cNvPr>
          <p:cNvSpPr txBox="1"/>
          <p:nvPr/>
        </p:nvSpPr>
        <p:spPr>
          <a:xfrm>
            <a:off x="570385" y="2472327"/>
            <a:ext cx="2175275" cy="21544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1400" b="1" dirty="0">
                <a:solidFill>
                  <a:schemeClr val="bg2">
                    <a:lumMod val="50000"/>
                  </a:schemeClr>
                </a:solidFill>
              </a:rPr>
              <a:t>In a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 3-dimensional space: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9BADE7-C14B-9FD7-E407-B04946CCD09F}"/>
              </a:ext>
            </a:extLst>
          </p:cNvPr>
          <p:cNvSpPr txBox="1"/>
          <p:nvPr/>
        </p:nvSpPr>
        <p:spPr>
          <a:xfrm>
            <a:off x="454660" y="1373499"/>
            <a:ext cx="65455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In general: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A5D716-9A7B-FC52-0CBB-493522BBF666}"/>
                  </a:ext>
                </a:extLst>
              </p:cNvPr>
              <p:cNvSpPr txBox="1"/>
              <p:nvPr/>
            </p:nvSpPr>
            <p:spPr>
              <a:xfrm>
                <a:off x="454660" y="3182182"/>
                <a:ext cx="35826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d</a:t>
                </a:r>
                <a:r>
                  <a:rPr lang="en-US" sz="105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3 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(</a:t>
                </a:r>
                <a:r>
                  <a:rPr lang="en-US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Dog,Wolf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) =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scadia Mono" panose="020B0609020000020004" pitchFamily="49" charset="0"/>
                      </a:rPr>
                      <m:t>7.018</m:t>
                    </m:r>
                  </m:oMath>
                </a14:m>
                <a:endParaRPr lang="en-US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A5D716-9A7B-FC52-0CBB-493522BBF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60" y="3182182"/>
                <a:ext cx="3582648" cy="369332"/>
              </a:xfrm>
              <a:prstGeom prst="rect">
                <a:avLst/>
              </a:prstGeom>
              <a:blipFill>
                <a:blip r:embed="rId8"/>
                <a:stretch>
                  <a:fillRect l="-1533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F8D472B-F1FA-FB87-1145-5426881D70A0}"/>
              </a:ext>
            </a:extLst>
          </p:cNvPr>
          <p:cNvSpPr txBox="1"/>
          <p:nvPr/>
        </p:nvSpPr>
        <p:spPr>
          <a:xfrm>
            <a:off x="454660" y="3551514"/>
            <a:ext cx="6541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d</a:t>
            </a:r>
            <a:r>
              <a:rPr lang="en-US" sz="1050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768</a:t>
            </a:r>
            <a:r>
              <a:rPr lang="en-US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Dog,Wolf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 = 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scadia Mono" panose="020B0609020000020004" pitchFamily="49" charset="0"/>
              </a:rPr>
              <a:t>8.513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D14C09-0C41-2D06-BE35-146B87668F47}"/>
                  </a:ext>
                </a:extLst>
              </p:cNvPr>
              <p:cNvSpPr txBox="1"/>
              <p:nvPr/>
            </p:nvSpPr>
            <p:spPr>
              <a:xfrm>
                <a:off x="4345604" y="3186628"/>
                <a:ext cx="42649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d</a:t>
                </a:r>
                <a:r>
                  <a:rPr lang="en-US" sz="105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3 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(</a:t>
                </a:r>
                <a:r>
                  <a:rPr lang="en-US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Dog,Blue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 whale) =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scadia Mono" panose="020B0609020000020004" pitchFamily="49" charset="0"/>
                      </a:rPr>
                      <m:t>82.38</m:t>
                    </m:r>
                  </m:oMath>
                </a14:m>
                <a:endParaRPr lang="en-US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D14C09-0C41-2D06-BE35-146B87668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5604" y="3186628"/>
                <a:ext cx="4264996" cy="369332"/>
              </a:xfrm>
              <a:prstGeom prst="rect">
                <a:avLst/>
              </a:prstGeom>
              <a:blipFill>
                <a:blip r:embed="rId9"/>
                <a:stretch>
                  <a:fillRect l="-1286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8E99BD-64E1-A0FF-D2AF-A250E54C2E7C}"/>
                  </a:ext>
                </a:extLst>
              </p:cNvPr>
              <p:cNvSpPr txBox="1"/>
              <p:nvPr/>
            </p:nvSpPr>
            <p:spPr>
              <a:xfrm>
                <a:off x="4345604" y="3558182"/>
                <a:ext cx="39373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d</a:t>
                </a:r>
                <a:r>
                  <a:rPr lang="en-US" sz="105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768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(</a:t>
                </a:r>
                <a:r>
                  <a:rPr lang="en-US" dirty="0" err="1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Dog,Blue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Cascadia Mono" panose="020B0609020000020004" pitchFamily="49" charset="0"/>
                    <a:ea typeface="Cascadia Mono" panose="020B0609020000020004" pitchFamily="49" charset="0"/>
                    <a:cs typeface="Cascadia Mono" panose="020B0609020000020004" pitchFamily="49" charset="0"/>
                  </a:rPr>
                  <a:t> whale) 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scadia Mono" panose="020B0609020000020004" pitchFamily="49" charset="0"/>
                        <a:cs typeface="Cascadia Mono" panose="020B0609020000020004" pitchFamily="49" charset="0"/>
                      </a:rPr>
                      <m:t>13.07</m:t>
                    </m:r>
                  </m:oMath>
                </a14:m>
                <a:endParaRPr lang="en-US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8E99BD-64E1-A0FF-D2AF-A250E54C2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5604" y="3558182"/>
                <a:ext cx="3937336" cy="369332"/>
              </a:xfrm>
              <a:prstGeom prst="rect">
                <a:avLst/>
              </a:prstGeom>
              <a:blipFill>
                <a:blip r:embed="rId10"/>
                <a:stretch>
                  <a:fillRect l="-1393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1544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18" grpId="0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A5A7E-25E0-A312-7CB7-52305D57D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83F00-9380-785C-714C-E7B9DB551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latin typeface="Bebas Neue"/>
              </a:rPr>
              <a:t>How can we represent words?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318B5-CF0C-0784-CDB8-7AF01F9042DC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IE" dirty="0"/>
              <a:t>What does that have to do with language models?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B66CF1-CB0D-3BE6-0F19-12ADE6823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31EA7769-AD28-9C61-547B-EEE89F429ADF}"/>
              </a:ext>
            </a:extLst>
          </p:cNvPr>
          <p:cNvSpPr txBox="1">
            <a:spLocks/>
          </p:cNvSpPr>
          <p:nvPr/>
        </p:nvSpPr>
        <p:spPr>
          <a:xfrm>
            <a:off x="360000" y="1410891"/>
            <a:ext cx="8424000" cy="30242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1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b="0" dirty="0">
              <a:solidFill>
                <a:srgbClr val="537992"/>
              </a:solidFill>
            </a:endParaRP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C3C88C33-D7A0-A0AF-FCEB-3F3673D4D351}"/>
              </a:ext>
            </a:extLst>
          </p:cNvPr>
          <p:cNvSpPr txBox="1">
            <a:spLocks/>
          </p:cNvSpPr>
          <p:nvPr/>
        </p:nvSpPr>
        <p:spPr>
          <a:xfrm>
            <a:off x="3727450" y="2715024"/>
            <a:ext cx="8424000" cy="30242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1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E" b="0" dirty="0">
              <a:solidFill>
                <a:srgbClr val="537992"/>
              </a:solidFill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01166DF4-9FA8-AC87-3F8D-75E2C6FF8A1B}"/>
              </a:ext>
            </a:extLst>
          </p:cNvPr>
          <p:cNvSpPr txBox="1">
            <a:spLocks/>
          </p:cNvSpPr>
          <p:nvPr/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4669F32-90E1-ED4F-B6D9-07697D6A4E9E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BDDA7FCF-E393-23FC-DD94-6A732DBB9BB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0000" y="1410891"/>
            <a:ext cx="8424000" cy="3024250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The same idea to represent words!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A few differences:</a:t>
            </a:r>
          </a:p>
          <a:p>
            <a:pPr marL="688975" lvl="4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E" dirty="0">
                <a:solidFill>
                  <a:srgbClr val="537992"/>
                </a:solidFill>
              </a:rPr>
              <a:t>Not only animals!</a:t>
            </a:r>
          </a:p>
          <a:p>
            <a:pPr marL="688975" lvl="4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E" dirty="0">
                <a:solidFill>
                  <a:srgbClr val="537992"/>
                </a:solidFill>
              </a:rPr>
              <a:t>A lot more dimensions! </a:t>
            </a:r>
          </a:p>
          <a:p>
            <a:pPr marL="688975" lvl="4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E" b="0" dirty="0">
                <a:solidFill>
                  <a:srgbClr val="537992"/>
                </a:solidFill>
              </a:rPr>
              <a:t>Not interpretable for humans!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BFE7B30-67EE-74FC-D914-F6C985388842}"/>
              </a:ext>
            </a:extLst>
          </p:cNvPr>
          <p:cNvCxnSpPr>
            <a:cxnSpLocks/>
          </p:cNvCxnSpPr>
          <p:nvPr/>
        </p:nvCxnSpPr>
        <p:spPr>
          <a:xfrm>
            <a:off x="5198549" y="3333014"/>
            <a:ext cx="3534657" cy="156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DDABEAB-29A3-2B5B-711E-400720AAFE5F}"/>
              </a:ext>
            </a:extLst>
          </p:cNvPr>
          <p:cNvSpPr txBox="1"/>
          <p:nvPr/>
        </p:nvSpPr>
        <p:spPr>
          <a:xfrm>
            <a:off x="5185096" y="3335769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0</a:t>
            </a:r>
            <a:endParaRPr lang="en-US" sz="800" b="1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BF56CF-71B7-AAE7-327A-3B6D64F072E1}"/>
              </a:ext>
            </a:extLst>
          </p:cNvPr>
          <p:cNvSpPr txBox="1"/>
          <p:nvPr/>
        </p:nvSpPr>
        <p:spPr>
          <a:xfrm>
            <a:off x="8506326" y="3393431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30</a:t>
            </a:r>
            <a:endParaRPr lang="en-US" sz="800" b="1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772C0-3983-B93E-8724-B5F88F961B07}"/>
              </a:ext>
            </a:extLst>
          </p:cNvPr>
          <p:cNvSpPr txBox="1"/>
          <p:nvPr/>
        </p:nvSpPr>
        <p:spPr>
          <a:xfrm>
            <a:off x="6855102" y="3382608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900" b="1" dirty="0" err="1">
                <a:latin typeface="+mn-lt"/>
              </a:rPr>
              <a:t>Metres</a:t>
            </a:r>
            <a:endParaRPr lang="en-US" sz="900" b="1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AE0522-C661-621F-19A1-071C67011D65}"/>
              </a:ext>
            </a:extLst>
          </p:cNvPr>
          <p:cNvSpPr txBox="1"/>
          <p:nvPr/>
        </p:nvSpPr>
        <p:spPr>
          <a:xfrm>
            <a:off x="4726628" y="3222968"/>
            <a:ext cx="246862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Snail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43E6C4-63F9-FAC1-F360-116BFF18C531}"/>
              </a:ext>
            </a:extLst>
          </p:cNvPr>
          <p:cNvSpPr txBox="1"/>
          <p:nvPr/>
        </p:nvSpPr>
        <p:spPr>
          <a:xfrm>
            <a:off x="4468031" y="1840070"/>
            <a:ext cx="440826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Millipede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B20695-0951-AB36-3292-F3F2AF3099AB}"/>
              </a:ext>
            </a:extLst>
          </p:cNvPr>
          <p:cNvSpPr txBox="1"/>
          <p:nvPr/>
        </p:nvSpPr>
        <p:spPr>
          <a:xfrm>
            <a:off x="6824844" y="3887043"/>
            <a:ext cx="496931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Anaconda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494A8B-F728-579B-2D88-6FAED531A19A}"/>
              </a:ext>
            </a:extLst>
          </p:cNvPr>
          <p:cNvSpPr txBox="1"/>
          <p:nvPr/>
        </p:nvSpPr>
        <p:spPr>
          <a:xfrm>
            <a:off x="4735165" y="2965456"/>
            <a:ext cx="209805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Cat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71677B-071E-E7C0-4A6D-54EB52459C8A}"/>
              </a:ext>
            </a:extLst>
          </p:cNvPr>
          <p:cNvSpPr txBox="1"/>
          <p:nvPr/>
        </p:nvSpPr>
        <p:spPr>
          <a:xfrm>
            <a:off x="5280991" y="2916141"/>
            <a:ext cx="198772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Dog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6719A9-1135-6DC2-31D2-081F0F1AC499}"/>
              </a:ext>
            </a:extLst>
          </p:cNvPr>
          <p:cNvSpPr txBox="1"/>
          <p:nvPr/>
        </p:nvSpPr>
        <p:spPr>
          <a:xfrm>
            <a:off x="5223820" y="2642574"/>
            <a:ext cx="182742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Fox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14E10D-DAE3-3038-88C3-3DD279F66804}"/>
              </a:ext>
            </a:extLst>
          </p:cNvPr>
          <p:cNvSpPr txBox="1"/>
          <p:nvPr/>
        </p:nvSpPr>
        <p:spPr>
          <a:xfrm>
            <a:off x="5603304" y="2880220"/>
            <a:ext cx="221214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Wolf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B6E6C1-0D3C-C738-EC8C-913B93E3D4C6}"/>
              </a:ext>
            </a:extLst>
          </p:cNvPr>
          <p:cNvSpPr txBox="1"/>
          <p:nvPr/>
        </p:nvSpPr>
        <p:spPr>
          <a:xfrm>
            <a:off x="7359811" y="4481906"/>
            <a:ext cx="538609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Blue whale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B96228-18FF-51DE-E159-F439AE307D90}"/>
              </a:ext>
            </a:extLst>
          </p:cNvPr>
          <p:cNvSpPr txBox="1"/>
          <p:nvPr/>
        </p:nvSpPr>
        <p:spPr>
          <a:xfrm>
            <a:off x="6376142" y="4195700"/>
            <a:ext cx="583493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</a:rPr>
              <a:t>White shark</a:t>
            </a:r>
            <a:endParaRPr lang="en-US" sz="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B8E3EB-FEA1-4BC3-0CFF-F7A6281B1ADA}"/>
              </a:ext>
            </a:extLst>
          </p:cNvPr>
          <p:cNvSpPr txBox="1"/>
          <p:nvPr/>
        </p:nvSpPr>
        <p:spPr>
          <a:xfrm>
            <a:off x="5772034" y="3359363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1</a:t>
            </a:r>
            <a:endParaRPr lang="en-US" sz="800" b="1" dirty="0">
              <a:latin typeface="+mn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7C7630-699B-F206-3A91-DDF87D14FF6C}"/>
              </a:ext>
            </a:extLst>
          </p:cNvPr>
          <p:cNvSpPr txBox="1"/>
          <p:nvPr/>
        </p:nvSpPr>
        <p:spPr>
          <a:xfrm>
            <a:off x="4906974" y="3663798"/>
            <a:ext cx="556243" cy="24622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ctr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Galapagos </a:t>
            </a:r>
            <a:b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Tortoise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E118E7-AFAF-BDD3-105C-7F62A4FA48C1}"/>
              </a:ext>
            </a:extLst>
          </p:cNvPr>
          <p:cNvSpPr txBox="1"/>
          <p:nvPr/>
        </p:nvSpPr>
        <p:spPr>
          <a:xfrm>
            <a:off x="6324451" y="3362885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B84349-3EA7-0D53-C5B2-0EEF50383B72}"/>
              </a:ext>
            </a:extLst>
          </p:cNvPr>
          <p:cNvSpPr txBox="1"/>
          <p:nvPr/>
        </p:nvSpPr>
        <p:spPr>
          <a:xfrm>
            <a:off x="7401491" y="3393431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5</a:t>
            </a:r>
            <a:endParaRPr lang="en-US" sz="800" b="1" dirty="0">
              <a:latin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F535D0-F6F3-1FD0-46AC-C9AA7074B78C}"/>
              </a:ext>
            </a:extLst>
          </p:cNvPr>
          <p:cNvSpPr txBox="1"/>
          <p:nvPr/>
        </p:nvSpPr>
        <p:spPr>
          <a:xfrm>
            <a:off x="4261383" y="3643708"/>
            <a:ext cx="209805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Ara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9A53E76-A9F1-80B7-6617-06EE24AD9B9F}"/>
              </a:ext>
            </a:extLst>
          </p:cNvPr>
          <p:cNvCxnSpPr>
            <a:cxnSpLocks/>
          </p:cNvCxnSpPr>
          <p:nvPr/>
        </p:nvCxnSpPr>
        <p:spPr>
          <a:xfrm flipV="1">
            <a:off x="5198549" y="1410891"/>
            <a:ext cx="0" cy="19299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5375B1E-4A57-4542-4EFF-0FCE220B0F10}"/>
              </a:ext>
            </a:extLst>
          </p:cNvPr>
          <p:cNvSpPr txBox="1"/>
          <p:nvPr/>
        </p:nvSpPr>
        <p:spPr>
          <a:xfrm rot="5400000">
            <a:off x="4659113" y="2389882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900" b="1" dirty="0">
                <a:latin typeface="+mn-lt"/>
              </a:rPr>
              <a:t>Number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A67069-996D-34FC-EFF3-08345EF93280}"/>
              </a:ext>
            </a:extLst>
          </p:cNvPr>
          <p:cNvSpPr txBox="1"/>
          <p:nvPr/>
        </p:nvSpPr>
        <p:spPr>
          <a:xfrm rot="5400000">
            <a:off x="4934815" y="1353124"/>
            <a:ext cx="329919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100+</a:t>
            </a:r>
            <a:endParaRPr lang="en-US" sz="800" b="1" dirty="0">
              <a:latin typeface="+mn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221107-D061-BC59-FA7A-0367DD55333A}"/>
              </a:ext>
            </a:extLst>
          </p:cNvPr>
          <p:cNvSpPr txBox="1"/>
          <p:nvPr/>
        </p:nvSpPr>
        <p:spPr>
          <a:xfrm rot="5400000">
            <a:off x="4994711" y="3084257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1</a:t>
            </a:r>
            <a:endParaRPr lang="en-US" sz="800" b="1" dirty="0">
              <a:latin typeface="+mn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01E47C-9BF8-BC4F-CB0D-E020E8042BA4}"/>
              </a:ext>
            </a:extLst>
          </p:cNvPr>
          <p:cNvSpPr txBox="1"/>
          <p:nvPr/>
        </p:nvSpPr>
        <p:spPr>
          <a:xfrm rot="5400000">
            <a:off x="5001438" y="2912173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000" b="1" dirty="0">
                <a:latin typeface="+mn-lt"/>
              </a:rPr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6CB916-2F0C-DC42-2FB5-4FDA3C69DCB0}"/>
              </a:ext>
            </a:extLst>
          </p:cNvPr>
          <p:cNvSpPr txBox="1"/>
          <p:nvPr/>
        </p:nvSpPr>
        <p:spPr>
          <a:xfrm rot="5400000">
            <a:off x="5003838" y="2503251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4</a:t>
            </a:r>
            <a:endParaRPr lang="en-US" sz="800" b="1" dirty="0">
              <a:latin typeface="+mn-lt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259D871-47BF-FD9A-CFDE-37A80F7310AA}"/>
              </a:ext>
            </a:extLst>
          </p:cNvPr>
          <p:cNvSpPr/>
          <p:nvPr/>
        </p:nvSpPr>
        <p:spPr>
          <a:xfrm>
            <a:off x="5045296" y="3179476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560D05A-5DDC-C78D-43E9-61934AF8B6FC}"/>
              </a:ext>
            </a:extLst>
          </p:cNvPr>
          <p:cNvSpPr/>
          <p:nvPr/>
        </p:nvSpPr>
        <p:spPr>
          <a:xfrm>
            <a:off x="6691693" y="4113073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8322FAF-9183-6515-B9FE-EAECABB2459A}"/>
              </a:ext>
            </a:extLst>
          </p:cNvPr>
          <p:cNvSpPr/>
          <p:nvPr/>
        </p:nvSpPr>
        <p:spPr>
          <a:xfrm>
            <a:off x="4845230" y="2921964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36EC267-DE64-A5E6-9CC4-196C128A4192}"/>
              </a:ext>
            </a:extLst>
          </p:cNvPr>
          <p:cNvSpPr/>
          <p:nvPr/>
        </p:nvSpPr>
        <p:spPr>
          <a:xfrm>
            <a:off x="5320096" y="2611946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0960B35-BDAF-F050-BDBE-813FC135780D}"/>
              </a:ext>
            </a:extLst>
          </p:cNvPr>
          <p:cNvSpPr/>
          <p:nvPr/>
        </p:nvSpPr>
        <p:spPr>
          <a:xfrm>
            <a:off x="5432032" y="2858495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2D4AE58-4E10-C35A-EDCF-E98654853E56}"/>
              </a:ext>
            </a:extLst>
          </p:cNvPr>
          <p:cNvSpPr/>
          <p:nvPr/>
        </p:nvSpPr>
        <p:spPr>
          <a:xfrm>
            <a:off x="5726237" y="2808169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4BCCCD6-54F7-3A53-7D84-68E9DE5C3C90}"/>
              </a:ext>
            </a:extLst>
          </p:cNvPr>
          <p:cNvSpPr/>
          <p:nvPr/>
        </p:nvSpPr>
        <p:spPr>
          <a:xfrm>
            <a:off x="5014340" y="3521107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C257DA6-C54B-EFE6-9FCB-B828540F4F89}"/>
              </a:ext>
            </a:extLst>
          </p:cNvPr>
          <p:cNvSpPr/>
          <p:nvPr/>
        </p:nvSpPr>
        <p:spPr>
          <a:xfrm>
            <a:off x="4401202" y="3617409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0E4CED4-4A24-C11B-2E78-E8D26F8DC83B}"/>
              </a:ext>
            </a:extLst>
          </p:cNvPr>
          <p:cNvSpPr/>
          <p:nvPr/>
        </p:nvSpPr>
        <p:spPr>
          <a:xfrm>
            <a:off x="7029377" y="3838096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066FFFE-51F5-AA9B-C1EE-12F88A1A4669}"/>
              </a:ext>
            </a:extLst>
          </p:cNvPr>
          <p:cNvSpPr/>
          <p:nvPr/>
        </p:nvSpPr>
        <p:spPr>
          <a:xfrm>
            <a:off x="7525722" y="4354061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87B68EB-EF07-B380-3371-3C441AFD25DB}"/>
              </a:ext>
            </a:extLst>
          </p:cNvPr>
          <p:cNvSpPr/>
          <p:nvPr/>
        </p:nvSpPr>
        <p:spPr>
          <a:xfrm>
            <a:off x="4910444" y="1780353"/>
            <a:ext cx="61913" cy="6346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FACA6BD-B45B-5405-080D-D189B5A019AB}"/>
              </a:ext>
            </a:extLst>
          </p:cNvPr>
          <p:cNvCxnSpPr>
            <a:cxnSpLocks/>
          </p:cNvCxnSpPr>
          <p:nvPr/>
        </p:nvCxnSpPr>
        <p:spPr>
          <a:xfrm flipH="1">
            <a:off x="3727450" y="3343994"/>
            <a:ext cx="1467736" cy="11994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154BC81-C712-C16D-12AB-5C701BFCEF4B}"/>
              </a:ext>
            </a:extLst>
          </p:cNvPr>
          <p:cNvSpPr txBox="1"/>
          <p:nvPr/>
        </p:nvSpPr>
        <p:spPr>
          <a:xfrm rot="19046386">
            <a:off x="4987584" y="3426952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5</a:t>
            </a:r>
            <a:endParaRPr lang="en-US" sz="800" b="1" dirty="0">
              <a:latin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A62491-3422-BF1E-6EB3-62F967097881}"/>
              </a:ext>
            </a:extLst>
          </p:cNvPr>
          <p:cNvSpPr txBox="1"/>
          <p:nvPr/>
        </p:nvSpPr>
        <p:spPr>
          <a:xfrm rot="19211568">
            <a:off x="4711784" y="3671109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10</a:t>
            </a:r>
            <a:endParaRPr lang="en-US" sz="800" b="1" dirty="0">
              <a:latin typeface="+mn-l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02C057-8664-6F42-0C67-B8C389C12339}"/>
              </a:ext>
            </a:extLst>
          </p:cNvPr>
          <p:cNvSpPr txBox="1"/>
          <p:nvPr/>
        </p:nvSpPr>
        <p:spPr>
          <a:xfrm rot="19075301">
            <a:off x="4434923" y="3913277"/>
            <a:ext cx="22688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50</a:t>
            </a:r>
            <a:endParaRPr lang="en-US" sz="800" b="1" dirty="0">
              <a:latin typeface="+mn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C13B67B-4F52-8A17-BC94-3B9BCDD3A06D}"/>
              </a:ext>
            </a:extLst>
          </p:cNvPr>
          <p:cNvSpPr txBox="1"/>
          <p:nvPr/>
        </p:nvSpPr>
        <p:spPr>
          <a:xfrm rot="19303965">
            <a:off x="3937589" y="4293028"/>
            <a:ext cx="308332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1000" b="1" dirty="0"/>
              <a:t>100+</a:t>
            </a:r>
            <a:endParaRPr lang="en-US" sz="800" b="1" dirty="0">
              <a:latin typeface="+mn-lt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81D1AC2-95BA-F556-A32D-2C02731314C7}"/>
              </a:ext>
            </a:extLst>
          </p:cNvPr>
          <p:cNvCxnSpPr>
            <a:cxnSpLocks/>
          </p:cNvCxnSpPr>
          <p:nvPr/>
        </p:nvCxnSpPr>
        <p:spPr>
          <a:xfrm>
            <a:off x="5198549" y="2483296"/>
            <a:ext cx="1125902" cy="904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49B8CF9-4640-6A44-379C-FB129D70BA1B}"/>
              </a:ext>
            </a:extLst>
          </p:cNvPr>
          <p:cNvCxnSpPr>
            <a:cxnSpLocks/>
          </p:cNvCxnSpPr>
          <p:nvPr/>
        </p:nvCxnSpPr>
        <p:spPr>
          <a:xfrm>
            <a:off x="6323370" y="2489710"/>
            <a:ext cx="541" cy="84330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B9812B6-3007-E7F9-7B4C-6ED9FF4CA20A}"/>
              </a:ext>
            </a:extLst>
          </p:cNvPr>
          <p:cNvCxnSpPr>
            <a:cxnSpLocks/>
            <a:stCxn id="45" idx="1"/>
          </p:cNvCxnSpPr>
          <p:nvPr/>
        </p:nvCxnSpPr>
        <p:spPr>
          <a:xfrm flipV="1">
            <a:off x="5017468" y="2468182"/>
            <a:ext cx="1329725" cy="111244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69B596A-EED3-2DD7-F7A3-B20275AF8B01}"/>
              </a:ext>
            </a:extLst>
          </p:cNvPr>
          <p:cNvCxnSpPr>
            <a:cxnSpLocks/>
          </p:cNvCxnSpPr>
          <p:nvPr/>
        </p:nvCxnSpPr>
        <p:spPr>
          <a:xfrm>
            <a:off x="3923015" y="3537925"/>
            <a:ext cx="1125902" cy="904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B4C6B3E-67E6-4F7D-F393-4B20561DCF52}"/>
              </a:ext>
            </a:extLst>
          </p:cNvPr>
          <p:cNvCxnSpPr>
            <a:cxnSpLocks/>
          </p:cNvCxnSpPr>
          <p:nvPr/>
        </p:nvCxnSpPr>
        <p:spPr>
          <a:xfrm>
            <a:off x="3936935" y="3528229"/>
            <a:ext cx="541" cy="84330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FDB188D-E23E-E7A4-4476-E5279CAEAC7C}"/>
              </a:ext>
            </a:extLst>
          </p:cNvPr>
          <p:cNvCxnSpPr>
            <a:cxnSpLocks/>
          </p:cNvCxnSpPr>
          <p:nvPr/>
        </p:nvCxnSpPr>
        <p:spPr>
          <a:xfrm flipV="1">
            <a:off x="3927119" y="2440997"/>
            <a:ext cx="1329725" cy="111244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A7AD885-E206-FB78-860B-1375FAD9EADA}"/>
              </a:ext>
            </a:extLst>
          </p:cNvPr>
          <p:cNvCxnSpPr>
            <a:cxnSpLocks/>
          </p:cNvCxnSpPr>
          <p:nvPr/>
        </p:nvCxnSpPr>
        <p:spPr>
          <a:xfrm flipV="1">
            <a:off x="5050427" y="3290749"/>
            <a:ext cx="1329725" cy="111244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B3B2B69-7720-CE67-BBCB-C28092AB85D7}"/>
              </a:ext>
            </a:extLst>
          </p:cNvPr>
          <p:cNvCxnSpPr>
            <a:cxnSpLocks/>
          </p:cNvCxnSpPr>
          <p:nvPr/>
        </p:nvCxnSpPr>
        <p:spPr>
          <a:xfrm>
            <a:off x="3934974" y="4378600"/>
            <a:ext cx="1125902" cy="9041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E8FAB16-3A69-6016-8B39-FA011D7F326A}"/>
              </a:ext>
            </a:extLst>
          </p:cNvPr>
          <p:cNvCxnSpPr>
            <a:cxnSpLocks/>
          </p:cNvCxnSpPr>
          <p:nvPr/>
        </p:nvCxnSpPr>
        <p:spPr>
          <a:xfrm>
            <a:off x="5057407" y="3550333"/>
            <a:ext cx="541" cy="84330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33F518BE-D9E6-ABF2-94F8-FE92DF9D3DAC}"/>
              </a:ext>
            </a:extLst>
          </p:cNvPr>
          <p:cNvSpPr/>
          <p:nvPr/>
        </p:nvSpPr>
        <p:spPr>
          <a:xfrm>
            <a:off x="4972357" y="3491511"/>
            <a:ext cx="140458" cy="136933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US" sz="14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93AAB9E-5DE6-ABEA-DEA3-6EE55A4A6829}"/>
              </a:ext>
            </a:extLst>
          </p:cNvPr>
          <p:cNvSpPr txBox="1"/>
          <p:nvPr/>
        </p:nvSpPr>
        <p:spPr>
          <a:xfrm rot="19150779">
            <a:off x="4431135" y="3669981"/>
            <a:ext cx="31920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 b="1" dirty="0"/>
              <a:t>Years</a:t>
            </a:r>
            <a:endParaRPr lang="en-US" sz="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3208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70CF9-B485-7DCB-C481-B71D57E95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259C7-D57C-3BCE-AC91-E69415B2D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latin typeface="Bebas Neue"/>
              </a:rPr>
              <a:t>How can we represent words?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79408-A12F-303D-967B-29E22369F45A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IE" dirty="0"/>
              <a:t>What does that have to do with language models?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F4D7D-535A-0683-4F76-2D3D523C6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B23AB0E1-D527-D7B3-D933-0312AF615828}"/>
              </a:ext>
            </a:extLst>
          </p:cNvPr>
          <p:cNvSpPr txBox="1">
            <a:spLocks/>
          </p:cNvSpPr>
          <p:nvPr/>
        </p:nvSpPr>
        <p:spPr>
          <a:xfrm>
            <a:off x="360000" y="1410891"/>
            <a:ext cx="8424000" cy="30242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1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b="0" dirty="0">
              <a:solidFill>
                <a:srgbClr val="537992"/>
              </a:solidFill>
            </a:endParaRP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BD36F07E-3BAA-947F-D4E6-756875E61743}"/>
              </a:ext>
            </a:extLst>
          </p:cNvPr>
          <p:cNvSpPr txBox="1">
            <a:spLocks/>
          </p:cNvSpPr>
          <p:nvPr/>
        </p:nvSpPr>
        <p:spPr>
          <a:xfrm>
            <a:off x="3727450" y="2715024"/>
            <a:ext cx="8424000" cy="30242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1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E" b="0" dirty="0">
              <a:solidFill>
                <a:srgbClr val="537992"/>
              </a:solidFill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A9BD1B1E-2F79-A5ED-65F5-AC0D9099F1B4}"/>
              </a:ext>
            </a:extLst>
          </p:cNvPr>
          <p:cNvSpPr txBox="1">
            <a:spLocks/>
          </p:cNvSpPr>
          <p:nvPr/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4669F32-90E1-ED4F-B6D9-07697D6A4E9E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22AED197-6BB3-A48B-C139-685F9D0A710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0000" y="1410891"/>
            <a:ext cx="8424000" cy="3024250"/>
          </a:xfrm>
        </p:spPr>
        <p:txBody>
          <a:bodyPr vert="horz" lIns="0" tIns="0" rIns="0" bIns="0" rtlCol="0" anchor="t">
            <a:no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Dog   = ( </a:t>
            </a:r>
            <a:r>
              <a:rPr lang="en-US" dirty="0">
                <a:solidFill>
                  <a:srgbClr val="FFC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, </a:t>
            </a:r>
            <a:r>
              <a:rPr lang="en-US" dirty="0">
                <a:solidFill>
                  <a:srgbClr val="FFC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4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dirty="0">
                <a:solidFill>
                  <a:srgbClr val="FFC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13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4393DE-26E9-6EB0-6ABA-005DC55A3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" y="1476036"/>
            <a:ext cx="7078980" cy="34809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5D5AF4-8FC0-B920-E9F0-D640DA276266}"/>
              </a:ext>
            </a:extLst>
          </p:cNvPr>
          <p:cNvSpPr txBox="1"/>
          <p:nvPr/>
        </p:nvSpPr>
        <p:spPr>
          <a:xfrm>
            <a:off x="8846820" y="4775945"/>
            <a:ext cx="121920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2840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F46DF-E210-1B94-D7F9-8569AC0B8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7FDCD-560B-A77C-4E20-DCA9FD676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537992"/>
                </a:solidFill>
                <a:cs typeface="Arial"/>
              </a:rPr>
              <a:t>How do we know if a Computer has mastered the language?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0155F-9234-AE35-AEA3-4B3426407877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IE" dirty="0"/>
              <a:t>How can we test language models?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8DF82F-233F-D7BF-EAA2-352D3D10D7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2A48C1E6-DFA2-6C0A-8EA6-194561A5EC77}"/>
              </a:ext>
            </a:extLst>
          </p:cNvPr>
          <p:cNvSpPr txBox="1">
            <a:spLocks/>
          </p:cNvSpPr>
          <p:nvPr/>
        </p:nvSpPr>
        <p:spPr>
          <a:xfrm>
            <a:off x="360000" y="1410891"/>
            <a:ext cx="8424000" cy="30242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1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b="0" dirty="0">
              <a:solidFill>
                <a:srgbClr val="537992"/>
              </a:solidFill>
            </a:endParaRP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AFB21DAD-42F2-7C47-6B0C-81D894573FF8}"/>
              </a:ext>
            </a:extLst>
          </p:cNvPr>
          <p:cNvSpPr txBox="1">
            <a:spLocks/>
          </p:cNvSpPr>
          <p:nvPr/>
        </p:nvSpPr>
        <p:spPr>
          <a:xfrm>
            <a:off x="3727450" y="2715024"/>
            <a:ext cx="8424000" cy="30242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1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E" b="0" dirty="0">
              <a:solidFill>
                <a:srgbClr val="537992"/>
              </a:solidFill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51BD48C5-9692-3DDF-9544-A8B7BEB72C12}"/>
              </a:ext>
            </a:extLst>
          </p:cNvPr>
          <p:cNvSpPr txBox="1">
            <a:spLocks/>
          </p:cNvSpPr>
          <p:nvPr/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4669F32-90E1-ED4F-B6D9-07697D6A4E9E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788EF734-2FF8-BFFC-28B0-9351F8C35A1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0000" y="1410891"/>
            <a:ext cx="8424000" cy="3024250"/>
          </a:xfrm>
        </p:spPr>
        <p:txBody>
          <a:bodyPr vert="horz" lIns="0" tIns="0" rIns="0" bIns="0" rtlCol="0" anchor="t">
            <a:no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Dog   = ( </a:t>
            </a:r>
            <a:r>
              <a:rPr lang="en-US" dirty="0">
                <a:solidFill>
                  <a:srgbClr val="FFC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, </a:t>
            </a:r>
            <a:r>
              <a:rPr lang="en-US" dirty="0">
                <a:solidFill>
                  <a:srgbClr val="FFC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4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dirty="0">
                <a:solidFill>
                  <a:srgbClr val="FFC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13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D0A95C-1FD4-7349-771B-FDB00A25E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" y="1476036"/>
            <a:ext cx="7078980" cy="34809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E77AE2-0C4D-2B55-8C84-721D160B4995}"/>
              </a:ext>
            </a:extLst>
          </p:cNvPr>
          <p:cNvSpPr txBox="1"/>
          <p:nvPr/>
        </p:nvSpPr>
        <p:spPr>
          <a:xfrm>
            <a:off x="8846820" y="4775945"/>
            <a:ext cx="121920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29313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B4598-1916-8562-4E7B-D5B688EFD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3B64F-42A8-C290-50E8-4790F5C05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537992"/>
                </a:solidFill>
                <a:cs typeface="Arial"/>
              </a:rPr>
              <a:t>How do we know if a Computer has mastered the language?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D6035-AD07-ED9F-8869-C0928D7BED0E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IE" dirty="0"/>
              <a:t>How can we test language models?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035DF-FFE4-EC18-560B-E7C8EF7EA1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F252BA93-47AD-E613-2FB6-9D5986B08253}"/>
              </a:ext>
            </a:extLst>
          </p:cNvPr>
          <p:cNvSpPr txBox="1">
            <a:spLocks/>
          </p:cNvSpPr>
          <p:nvPr/>
        </p:nvSpPr>
        <p:spPr>
          <a:xfrm>
            <a:off x="360000" y="1410891"/>
            <a:ext cx="8424000" cy="30242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1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b="0" dirty="0">
              <a:solidFill>
                <a:srgbClr val="537992"/>
              </a:solidFill>
            </a:endParaRP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6E724F7F-DE36-8403-8EE1-B93BB2C4E5FE}"/>
              </a:ext>
            </a:extLst>
          </p:cNvPr>
          <p:cNvSpPr txBox="1">
            <a:spLocks/>
          </p:cNvSpPr>
          <p:nvPr/>
        </p:nvSpPr>
        <p:spPr>
          <a:xfrm>
            <a:off x="3727450" y="2715024"/>
            <a:ext cx="8424000" cy="30242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1" i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9863" indent="-1698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346075" indent="-1762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11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 b="1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bg2">
                    <a:lumMod val="9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E" b="0" dirty="0">
              <a:solidFill>
                <a:srgbClr val="537992"/>
              </a:solidFill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F50FD0AD-E024-6BDF-BE9A-91EDD946E021}"/>
              </a:ext>
            </a:extLst>
          </p:cNvPr>
          <p:cNvSpPr txBox="1">
            <a:spLocks/>
          </p:cNvSpPr>
          <p:nvPr/>
        </p:nvSpPr>
        <p:spPr>
          <a:xfrm>
            <a:off x="352144" y="4867275"/>
            <a:ext cx="412203" cy="17949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4669F32-90E1-ED4F-B6D9-07697D6A4E9E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C7009E-79B2-5D0B-AEB3-5396E25A4FC4}"/>
              </a:ext>
            </a:extLst>
          </p:cNvPr>
          <p:cNvSpPr txBox="1"/>
          <p:nvPr/>
        </p:nvSpPr>
        <p:spPr>
          <a:xfrm>
            <a:off x="8846820" y="4775945"/>
            <a:ext cx="121920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</p:txBody>
      </p:sp>
      <p:pic>
        <p:nvPicPr>
          <p:cNvPr id="9" name="Content Placeholder 8" descr="A cartoon of a person digging a pile of snow&#10;&#10;AI-generated content may be incorrect.">
            <a:extLst>
              <a:ext uri="{FF2B5EF4-FFF2-40B4-BE49-F238E27FC236}">
                <a16:creationId xmlns:a16="http://schemas.microsoft.com/office/drawing/2014/main" id="{D317AF76-6EB3-5CA0-93E8-CB00D479ED58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006" y="1286304"/>
            <a:ext cx="2949104" cy="3489641"/>
          </a:xfrm>
        </p:spPr>
      </p:pic>
    </p:spTree>
    <p:extLst>
      <p:ext uri="{BB962C8B-B14F-4D97-AF65-F5344CB8AC3E}">
        <p14:creationId xmlns:p14="http://schemas.microsoft.com/office/powerpoint/2010/main" val="2716675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82154-4B4C-2648-1D48-FBD3CFC7F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3B7BD-D8C2-3FF7-E3AF-7ECCEC894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537992"/>
                </a:solidFill>
                <a:cs typeface="Arial"/>
              </a:rPr>
              <a:t>How do we know if a Computer has mastered the language?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66CD8-5346-C903-66CF-9674FE0A7173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IE" dirty="0"/>
              <a:t>With mad libs texts?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8AA2C3-1747-D5E6-CC1D-C9C2893213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40F45A-73CC-BEF4-4C4E-6D441A5AF978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My  ______ is eating a bone.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b="0" dirty="0">
              <a:solidFill>
                <a:srgbClr val="537992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b="0" dirty="0">
              <a:solidFill>
                <a:srgbClr val="537992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The ______ is a descendent of the wolf.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3D1963-DA6D-521D-376E-79831831E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347" y="1893533"/>
            <a:ext cx="2834886" cy="8382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F760EA-71A1-8310-54B8-459534116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47" y="3396771"/>
            <a:ext cx="2629128" cy="2743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FCB7C9-2BAA-54CB-D5A8-AA9B6A231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795" y="3716927"/>
            <a:ext cx="2743438" cy="51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4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6A359-0676-5B4E-3D12-459DC30DE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2F240-1738-E498-B491-988DFA67C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537992"/>
                </a:solidFill>
                <a:cs typeface="Arial"/>
              </a:rPr>
              <a:t>How do we know if a Computer has mastered the language?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0878F-5FE3-8D58-E633-BF18C824301C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IE" dirty="0"/>
              <a:t>With text-based exercises?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C476AD-7C9B-1DE1-2E5C-790BC3994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98CAC1-3A13-5BCC-BF30-4363716C402B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“The quick brown fox jumps over the lazy dog”   -&gt; </a:t>
            </a:r>
            <a:r>
              <a:rPr lang="en-IE" b="0" i="1" dirty="0">
                <a:solidFill>
                  <a:srgbClr val="537992"/>
                </a:solidFill>
              </a:rPr>
              <a:t>Mark all adjectives!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“</a:t>
            </a:r>
            <a:r>
              <a:rPr lang="en-IE" b="0" dirty="0" err="1">
                <a:solidFill>
                  <a:srgbClr val="537992"/>
                </a:solidFill>
              </a:rPr>
              <a:t>Zolwerknapp</a:t>
            </a:r>
            <a:r>
              <a:rPr lang="en-IE" b="0" dirty="0">
                <a:solidFill>
                  <a:srgbClr val="537992"/>
                </a:solidFill>
              </a:rPr>
              <a:t> is sited in the Minett region.”     -&gt; </a:t>
            </a:r>
            <a:r>
              <a:rPr lang="en-IE" b="0" i="1" dirty="0">
                <a:solidFill>
                  <a:srgbClr val="537992"/>
                </a:solidFill>
              </a:rPr>
              <a:t>Tell me</a:t>
            </a:r>
            <a:r>
              <a:rPr lang="en-IE" b="0" dirty="0">
                <a:solidFill>
                  <a:srgbClr val="537992"/>
                </a:solidFill>
              </a:rPr>
              <a:t> </a:t>
            </a:r>
            <a:r>
              <a:rPr lang="en-IE" b="0" i="1" dirty="0">
                <a:solidFill>
                  <a:srgbClr val="537992"/>
                </a:solidFill>
              </a:rPr>
              <a:t>which words are names!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“The movie is boring.”     -&gt;  </a:t>
            </a:r>
            <a:r>
              <a:rPr lang="en-IE" b="0" i="1" dirty="0">
                <a:solidFill>
                  <a:srgbClr val="537992"/>
                </a:solidFill>
              </a:rPr>
              <a:t>Tell me whether this sentence is neutral, positive or negative!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                                               -&gt;  </a:t>
            </a:r>
            <a:r>
              <a:rPr lang="en-IE" b="0" i="1" dirty="0">
                <a:solidFill>
                  <a:srgbClr val="537992"/>
                </a:solidFill>
              </a:rPr>
              <a:t>Summarise this text!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b="0" dirty="0">
              <a:solidFill>
                <a:srgbClr val="537992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b="0" dirty="0">
              <a:solidFill>
                <a:srgbClr val="53799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B79048-C3F5-1B3D-5396-FA30704FFD55}"/>
              </a:ext>
            </a:extLst>
          </p:cNvPr>
          <p:cNvSpPr txBox="1"/>
          <p:nvPr/>
        </p:nvSpPr>
        <p:spPr>
          <a:xfrm>
            <a:off x="696906" y="2983070"/>
            <a:ext cx="2282562" cy="492443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800" b="1" dirty="0"/>
              <a:t>Millipedes</a:t>
            </a:r>
            <a:r>
              <a:rPr lang="en-US" sz="800" dirty="0"/>
              <a:t> (originating from the </a:t>
            </a:r>
            <a:r>
              <a:rPr lang="en-US" sz="800" dirty="0">
                <a:hlinkClick r:id="rId2" tooltip="Latin"/>
              </a:rPr>
              <a:t>Latin</a:t>
            </a:r>
            <a:r>
              <a:rPr lang="en-US" sz="800" dirty="0"/>
              <a:t> </a:t>
            </a:r>
            <a:r>
              <a:rPr lang="en-US" sz="800" i="1" dirty="0" err="1"/>
              <a:t>mille</a:t>
            </a:r>
            <a:r>
              <a:rPr lang="en-US" sz="800" dirty="0"/>
              <a:t>, "thousand", and </a:t>
            </a:r>
            <a:r>
              <a:rPr lang="en-US" sz="800" i="1" dirty="0"/>
              <a:t>pes</a:t>
            </a:r>
            <a:r>
              <a:rPr lang="en-US" sz="800" dirty="0"/>
              <a:t>, "foot")</a:t>
            </a:r>
            <a:r>
              <a:rPr lang="en-US" sz="800" baseline="30000" dirty="0">
                <a:hlinkClick r:id="rId3"/>
              </a:rPr>
              <a:t>[1]</a:t>
            </a:r>
            <a:r>
              <a:rPr lang="en-US" sz="800" baseline="30000" dirty="0">
                <a:hlinkClick r:id="rId4"/>
              </a:rPr>
              <a:t>[2]</a:t>
            </a:r>
            <a:r>
              <a:rPr lang="en-US" sz="800" dirty="0"/>
              <a:t> are a group of </a:t>
            </a:r>
            <a:r>
              <a:rPr lang="en-US" sz="800" dirty="0">
                <a:hlinkClick r:id="rId5" tooltip="Arthropod"/>
              </a:rPr>
              <a:t>arthropods</a:t>
            </a:r>
            <a:r>
              <a:rPr lang="en-US" sz="800" dirty="0"/>
              <a:t> that are </a:t>
            </a:r>
            <a:r>
              <a:rPr lang="en-US" sz="800" dirty="0" err="1"/>
              <a:t>characterised</a:t>
            </a:r>
            <a:r>
              <a:rPr lang="en-US" sz="800" dirty="0"/>
              <a:t> by having two pairs of jointed </a:t>
            </a:r>
            <a:r>
              <a:rPr lang="en-US" sz="800" dirty="0">
                <a:hlinkClick r:id="rId6" tooltip="Arthropod leg"/>
              </a:rPr>
              <a:t>legs</a:t>
            </a:r>
            <a:r>
              <a:rPr lang="en-US" sz="800" dirty="0"/>
              <a:t> on most body segments.</a:t>
            </a:r>
            <a:endParaRPr lang="en-US" sz="8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3553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332D7-229B-C77B-FCD3-C87D73B92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862ED-C04B-3385-C99D-847837503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537992"/>
                </a:solidFill>
                <a:cs typeface="Arial"/>
              </a:rPr>
              <a:t>How do we know if a Computer has mastered the language?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EB99E-198E-7960-5DCB-26A50F46AE5B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IE" dirty="0"/>
              <a:t>Problems with tests for language models: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1DE1F0-016F-361A-14CE-7E70C0711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0BFFE1-6033-B04D-48D9-AB1E70B44A1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0000" y="1410891"/>
            <a:ext cx="8555400" cy="3024250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Most language models are catered towards wide-spread languages, mainly English</a:t>
            </a:r>
            <a:endParaRPr lang="en-US" dirty="0"/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Language models, and especially LLMs need a huge amount of data to learn the language</a:t>
            </a: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Testing benchmarks for low-resource languages are scarce, if they exist at all</a:t>
            </a: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  <a:cs typeface="Arial" panose="020B0604020202020204"/>
              </a:rPr>
              <a:t>Current LLMs have often seen testing data during their training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b="0" dirty="0">
              <a:solidFill>
                <a:srgbClr val="5379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267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DC706-B064-DF85-06ED-83FB76000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97B97-67AF-D995-3E05-3F1624A2D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37992"/>
                </a:solidFill>
                <a:cs typeface="Arial"/>
              </a:rPr>
              <a:t>Can an </a:t>
            </a:r>
            <a:r>
              <a:rPr lang="en-US" dirty="0" err="1">
                <a:solidFill>
                  <a:srgbClr val="537992"/>
                </a:solidFill>
                <a:cs typeface="Arial"/>
              </a:rPr>
              <a:t>llm</a:t>
            </a:r>
            <a:r>
              <a:rPr lang="en-US" dirty="0">
                <a:solidFill>
                  <a:srgbClr val="537992"/>
                </a:solidFill>
                <a:cs typeface="Arial"/>
              </a:rPr>
              <a:t> pass the national language exam for Luxembourgish?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5F802-26AA-95A0-CF90-F8AC87522359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IE" dirty="0"/>
              <a:t>Language proficiency exams: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134B2F-0ABB-416A-D96E-1C6EC67F57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532967-E78D-EF43-BAB8-7D83B8A78D3D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However, language exams are typically more readily available, diverse, and of high quality</a:t>
            </a:r>
            <a:endParaRPr lang="en-IE" b="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We can ask LLMs to solve language exams to test their proficiency</a:t>
            </a:r>
            <a:endParaRPr lang="en-IE" dirty="0">
              <a:solidFill>
                <a:srgbClr val="537992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</a:rPr>
              <a:t>We can find out when and why LLMs fail in the language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 dirty="0">
                <a:solidFill>
                  <a:srgbClr val="537992"/>
                </a:solidFill>
                <a:cs typeface="Arial"/>
              </a:rPr>
              <a:t>We can compare the proficiency of LLMs</a:t>
            </a:r>
            <a:br>
              <a:rPr lang="en-IE" dirty="0">
                <a:solidFill>
                  <a:srgbClr val="537992"/>
                </a:solidFill>
                <a:cs typeface="Arial"/>
              </a:rPr>
            </a:br>
            <a:endParaRPr lang="en-IE" b="0" dirty="0">
              <a:solidFill>
                <a:srgbClr val="5379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11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28C05-6930-A39E-6E32-27A0800A3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148634-CAB3-CB1A-671C-780EEC154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28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53733C-BC5A-A586-5837-1ABAE6FFE43E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 vert="horz" lIns="0" tIns="0" rIns="0" bIns="0" rtlCol="0" anchor="t">
            <a:no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None/>
            </a:pPr>
            <a:br>
              <a:rPr lang="en-IE" dirty="0">
                <a:solidFill>
                  <a:srgbClr val="537992"/>
                </a:solidFill>
                <a:cs typeface="Arial"/>
              </a:rPr>
            </a:br>
            <a:endParaRPr lang="en-IE" b="0" dirty="0">
              <a:solidFill>
                <a:srgbClr val="537992"/>
              </a:solidFill>
            </a:endParaRPr>
          </a:p>
        </p:txBody>
      </p:sp>
      <p:pic>
        <p:nvPicPr>
          <p:cNvPr id="7" name="Picture 6" descr="A diagram of a staircase with different colored steps&#10;&#10;AI-generated content may be incorrect.">
            <a:extLst>
              <a:ext uri="{FF2B5EF4-FFF2-40B4-BE49-F238E27FC236}">
                <a16:creationId xmlns:a16="http://schemas.microsoft.com/office/drawing/2014/main" id="{B5C095E1-8EB7-D08F-A008-088DA57439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245" y="0"/>
            <a:ext cx="7347315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D43DA-0484-1D96-4E2C-00656C5C5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37992"/>
                </a:solidFill>
                <a:cs typeface="Arial"/>
              </a:rPr>
              <a:t>Can an </a:t>
            </a:r>
            <a:r>
              <a:rPr lang="en-US" dirty="0" err="1">
                <a:solidFill>
                  <a:srgbClr val="537992"/>
                </a:solidFill>
                <a:cs typeface="Arial"/>
              </a:rPr>
              <a:t>llm</a:t>
            </a:r>
            <a:r>
              <a:rPr lang="en-US" dirty="0">
                <a:solidFill>
                  <a:srgbClr val="537992"/>
                </a:solidFill>
                <a:cs typeface="Arial"/>
              </a:rPr>
              <a:t> pass the national language exam for Luxembourgish?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ABE428-85B5-DCFA-A36D-A8C057B69CB6}"/>
              </a:ext>
            </a:extLst>
          </p:cNvPr>
          <p:cNvSpPr txBox="1"/>
          <p:nvPr/>
        </p:nvSpPr>
        <p:spPr>
          <a:xfrm>
            <a:off x="7757279" y="4312030"/>
            <a:ext cx="1175002" cy="123111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algn="l"/>
            <a:r>
              <a:rPr lang="en-US" sz="800" dirty="0">
                <a:latin typeface="+mn-lt"/>
              </a:rPr>
              <a:t> © Badges for Languages</a:t>
            </a:r>
          </a:p>
        </p:txBody>
      </p:sp>
    </p:spTree>
    <p:extLst>
      <p:ext uri="{BB962C8B-B14F-4D97-AF65-F5344CB8AC3E}">
        <p14:creationId xmlns:p14="http://schemas.microsoft.com/office/powerpoint/2010/main" val="34051738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4C0FA-89AB-A8E3-C6F6-81CCA950E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C6F59-B82E-6DA8-1598-5C86ABCDC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37992"/>
                </a:solidFill>
                <a:cs typeface="Arial"/>
              </a:rPr>
              <a:t>Can an </a:t>
            </a:r>
            <a:r>
              <a:rPr lang="en-US" dirty="0" err="1">
                <a:solidFill>
                  <a:srgbClr val="537992"/>
                </a:solidFill>
                <a:cs typeface="Arial"/>
              </a:rPr>
              <a:t>llm</a:t>
            </a:r>
            <a:r>
              <a:rPr lang="en-US" dirty="0">
                <a:solidFill>
                  <a:srgbClr val="537992"/>
                </a:solidFill>
                <a:cs typeface="Arial"/>
              </a:rPr>
              <a:t> pass the national language exam for Luxembourgish?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2FF3C-F010-23E7-3106-09CE67CC735F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IE" dirty="0"/>
              <a:t>Language proficiency exams: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66920-1F1C-0567-348B-836E27C06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29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688CC6-69C5-A7C3-CB3C-7F12426BB6E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E" b="0">
                <a:solidFill>
                  <a:srgbClr val="537992"/>
                </a:solidFill>
                <a:cs typeface="Arial"/>
              </a:rPr>
              <a:t>We received around exams containing a total of 600 questions from the </a:t>
            </a:r>
            <a:r>
              <a:rPr lang="en-IE" b="0" err="1">
                <a:solidFill>
                  <a:srgbClr val="537992"/>
                </a:solidFill>
                <a:cs typeface="Arial"/>
              </a:rPr>
              <a:t>Institut</a:t>
            </a:r>
            <a:r>
              <a:rPr lang="en-IE" b="0">
                <a:solidFill>
                  <a:srgbClr val="537992"/>
                </a:solidFill>
                <a:cs typeface="Arial"/>
              </a:rPr>
              <a:t> National des </a:t>
            </a:r>
            <a:r>
              <a:rPr lang="en-IE" b="0" err="1">
                <a:solidFill>
                  <a:srgbClr val="537992"/>
                </a:solidFill>
                <a:cs typeface="Arial"/>
              </a:rPr>
              <a:t>Langues</a:t>
            </a:r>
            <a:r>
              <a:rPr lang="en-IE" b="0">
                <a:solidFill>
                  <a:srgbClr val="537992"/>
                </a:solidFill>
                <a:cs typeface="Arial"/>
              </a:rPr>
              <a:t> Luxembourg (INLL)</a:t>
            </a:r>
          </a:p>
          <a:p>
            <a:pPr marL="285750" indent="-28575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E" b="0">
                <a:solidFill>
                  <a:srgbClr val="537992"/>
                </a:solidFill>
                <a:cs typeface="Arial"/>
              </a:rPr>
              <a:t>Exams range from A1 to C2 and broadly fall into four categories (Vocabulary, Grammar, Reading Comprehension, Listening Comprehension)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b="0">
                <a:solidFill>
                  <a:srgbClr val="537992"/>
                </a:solidFill>
                <a:cs typeface="Arial"/>
              </a:rPr>
              <a:t>We tested 54 recent LLMs on those exams</a:t>
            </a:r>
            <a:endParaRPr lang="en-IE" b="0">
              <a:solidFill>
                <a:srgbClr val="00AEBC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0058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C551C-55FF-8F88-9357-5927105F5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6A0C-A3F4-1DDA-739C-1274DAB9B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37992"/>
                </a:solidFill>
                <a:cs typeface="Arial"/>
              </a:rPr>
              <a:t>Can an </a:t>
            </a:r>
            <a:r>
              <a:rPr lang="en-US" dirty="0" err="1">
                <a:solidFill>
                  <a:srgbClr val="537992"/>
                </a:solidFill>
                <a:cs typeface="Arial"/>
              </a:rPr>
              <a:t>llm</a:t>
            </a:r>
            <a:r>
              <a:rPr lang="en-US" dirty="0">
                <a:solidFill>
                  <a:srgbClr val="537992"/>
                </a:solidFill>
                <a:cs typeface="Arial"/>
              </a:rPr>
              <a:t> pass the national language exam for Luxembourgish?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B86511-D893-2705-89F7-7A9923093A3F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IE"/>
              <a:t>Example Grammar Question: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0ED3F-D77D-819F-956B-0E979D390B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30</a:t>
            </a:fld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5A2198D-B02F-C05F-708B-3362525A6E66}"/>
              </a:ext>
            </a:extLst>
          </p:cNvPr>
          <p:cNvSpPr/>
          <p:nvPr/>
        </p:nvSpPr>
        <p:spPr>
          <a:xfrm>
            <a:off x="360000" y="1419027"/>
            <a:ext cx="6628687" cy="525440"/>
          </a:xfrm>
          <a:prstGeom prst="round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r>
              <a:rPr lang="en-GB" sz="1400">
                <a:solidFill>
                  <a:schemeClr val="tx1"/>
                </a:solidFill>
                <a:latin typeface="Franklin Gothic Demi Cond" panose="020B0706030402020204" pitchFamily="34" charset="0"/>
              </a:rPr>
              <a:t>T: Op ______ </a:t>
            </a:r>
            <a:r>
              <a:rPr lang="en-GB" sz="1400" err="1">
                <a:solidFill>
                  <a:schemeClr val="tx1"/>
                </a:solidFill>
                <a:latin typeface="Franklin Gothic Demi Cond" panose="020B0706030402020204" pitchFamily="34" charset="0"/>
              </a:rPr>
              <a:t>Weiere</a:t>
            </a:r>
            <a:r>
              <a:rPr lang="en-GB" sz="1400">
                <a:solidFill>
                  <a:schemeClr val="tx1"/>
                </a:solidFill>
                <a:latin typeface="Franklin Gothic Demi Cond" panose="020B0706030402020204" pitchFamily="34" charset="0"/>
              </a:rPr>
              <a:t> </a:t>
            </a:r>
            <a:r>
              <a:rPr lang="en-GB" sz="1400" err="1">
                <a:solidFill>
                  <a:schemeClr val="tx1"/>
                </a:solidFill>
                <a:latin typeface="Franklin Gothic Demi Cond" panose="020B0706030402020204" pitchFamily="34" charset="0"/>
              </a:rPr>
              <a:t>kann</a:t>
            </a:r>
            <a:r>
              <a:rPr lang="en-GB" sz="1400">
                <a:solidFill>
                  <a:schemeClr val="tx1"/>
                </a:solidFill>
                <a:latin typeface="Franklin Gothic Demi Cond" panose="020B0706030402020204" pitchFamily="34" charset="0"/>
              </a:rPr>
              <a:t> </a:t>
            </a:r>
            <a:r>
              <a:rPr lang="en-GB" sz="1400" err="1">
                <a:solidFill>
                  <a:schemeClr val="tx1"/>
                </a:solidFill>
                <a:latin typeface="Franklin Gothic Demi Cond" panose="020B0706030402020204" pitchFamily="34" charset="0"/>
              </a:rPr>
              <a:t>een</a:t>
            </a:r>
            <a:r>
              <a:rPr lang="en-GB" sz="1400">
                <a:solidFill>
                  <a:schemeClr val="tx1"/>
                </a:solidFill>
                <a:latin typeface="Franklin Gothic Demi Cond" panose="020B0706030402020204" pitchFamily="34" charset="0"/>
              </a:rPr>
              <a:t> am </a:t>
            </a:r>
            <a:r>
              <a:rPr lang="en-GB" sz="1400" err="1">
                <a:solidFill>
                  <a:schemeClr val="tx1"/>
                </a:solidFill>
                <a:latin typeface="Franklin Gothic Demi Cond" panose="020B0706030402020204" pitchFamily="34" charset="0"/>
              </a:rPr>
              <a:t>Wanter</a:t>
            </a:r>
            <a:r>
              <a:rPr lang="en-GB" sz="1400">
                <a:solidFill>
                  <a:schemeClr val="tx1"/>
                </a:solidFill>
                <a:latin typeface="Franklin Gothic Demi Cond" panose="020B0706030402020204" pitchFamily="34" charset="0"/>
              </a:rPr>
              <a:t> </a:t>
            </a:r>
            <a:r>
              <a:rPr lang="en-GB" sz="1400" err="1">
                <a:solidFill>
                  <a:schemeClr val="tx1"/>
                </a:solidFill>
                <a:latin typeface="Franklin Gothic Demi Cond" panose="020B0706030402020204" pitchFamily="34" charset="0"/>
              </a:rPr>
              <a:t>Schlittschong</a:t>
            </a:r>
            <a:r>
              <a:rPr lang="en-GB" sz="1400">
                <a:solidFill>
                  <a:schemeClr val="tx1"/>
                </a:solidFill>
                <a:latin typeface="Franklin Gothic Demi Cond" panose="020B0706030402020204" pitchFamily="34" charset="0"/>
              </a:rPr>
              <a:t> </a:t>
            </a:r>
            <a:r>
              <a:rPr lang="en-GB" sz="1400" err="1">
                <a:solidFill>
                  <a:schemeClr val="tx1"/>
                </a:solidFill>
                <a:latin typeface="Franklin Gothic Demi Cond" panose="020B0706030402020204" pitchFamily="34" charset="0"/>
              </a:rPr>
              <a:t>fueren</a:t>
            </a:r>
            <a:r>
              <a:rPr lang="en-GB" sz="1400">
                <a:solidFill>
                  <a:schemeClr val="tx1"/>
                </a:solidFill>
                <a:latin typeface="Franklin Gothic Demi Cond" panose="020B0706030402020204" pitchFamily="34" charset="0"/>
              </a:rPr>
              <a:t>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BCD2D61-B52A-79FF-37C3-34362CC9F0AC}"/>
              </a:ext>
            </a:extLst>
          </p:cNvPr>
          <p:cNvSpPr/>
          <p:nvPr/>
        </p:nvSpPr>
        <p:spPr>
          <a:xfrm>
            <a:off x="764347" y="2953545"/>
            <a:ext cx="5842907" cy="525440"/>
          </a:xfrm>
          <a:prstGeom prst="round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r>
              <a:rPr lang="en-GB" sz="1400">
                <a:solidFill>
                  <a:schemeClr val="tx1"/>
                </a:solidFill>
                <a:latin typeface="Franklin Gothic Demi Cond" panose="020B0706030402020204" pitchFamily="34" charset="0"/>
              </a:rPr>
              <a:t>Possible Answers: </a:t>
            </a:r>
            <a:r>
              <a:rPr lang="en-GB" sz="1400" err="1">
                <a:solidFill>
                  <a:schemeClr val="tx1"/>
                </a:solidFill>
                <a:latin typeface="Franklin Gothic Demi Cond" panose="020B0706030402020204" pitchFamily="34" charset="0"/>
              </a:rPr>
              <a:t>zougefruer</a:t>
            </a:r>
            <a:r>
              <a:rPr lang="en-GB" sz="1400">
                <a:solidFill>
                  <a:schemeClr val="tx1"/>
                </a:solidFill>
                <a:latin typeface="Franklin Gothic Demi Cond" panose="020B0706030402020204" pitchFamily="34" charset="0"/>
              </a:rPr>
              <a:t>, </a:t>
            </a:r>
            <a:r>
              <a:rPr lang="en-GB" sz="1400" err="1">
                <a:solidFill>
                  <a:schemeClr val="tx1"/>
                </a:solidFill>
                <a:latin typeface="Franklin Gothic Demi Cond" panose="020B0706030402020204" pitchFamily="34" charset="0"/>
              </a:rPr>
              <a:t>zoufréieren</a:t>
            </a:r>
            <a:r>
              <a:rPr lang="en-GB" sz="1400">
                <a:solidFill>
                  <a:schemeClr val="tx1"/>
                </a:solidFill>
                <a:latin typeface="Franklin Gothic Demi Cond" panose="020B0706030402020204" pitchFamily="34" charset="0"/>
              </a:rPr>
              <a:t>, </a:t>
            </a:r>
            <a:r>
              <a:rPr lang="en-GB" sz="1400" err="1">
                <a:solidFill>
                  <a:schemeClr val="tx1"/>
                </a:solidFill>
                <a:latin typeface="Franklin Gothic Demi Cond" panose="020B0706030402020204" pitchFamily="34" charset="0"/>
              </a:rPr>
              <a:t>zougefruere</a:t>
            </a:r>
            <a:r>
              <a:rPr lang="en-GB" sz="1400">
                <a:solidFill>
                  <a:schemeClr val="tx1"/>
                </a:solidFill>
                <a:latin typeface="Franklin Gothic Demi Cond" panose="020B0706030402020204" pitchFamily="34" charset="0"/>
              </a:rPr>
              <a:t>, </a:t>
            </a:r>
            <a:r>
              <a:rPr lang="en-GB" sz="1400" err="1">
                <a:solidFill>
                  <a:schemeClr val="tx1"/>
                </a:solidFill>
                <a:latin typeface="Franklin Gothic Demi Cond" panose="020B0706030402020204" pitchFamily="34" charset="0"/>
              </a:rPr>
              <a:t>zougefrueren</a:t>
            </a:r>
            <a:endParaRPr lang="en-GB" sz="1400">
              <a:solidFill>
                <a:schemeClr val="tx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9EE7557-CDAC-430B-77F2-82540CE199D3}"/>
              </a:ext>
            </a:extLst>
          </p:cNvPr>
          <p:cNvSpPr/>
          <p:nvPr/>
        </p:nvSpPr>
        <p:spPr>
          <a:xfrm>
            <a:off x="360000" y="2048246"/>
            <a:ext cx="4867093" cy="52544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r>
              <a:rPr lang="en-GB" sz="1400">
                <a:solidFill>
                  <a:schemeClr val="tx1">
                    <a:lumMod val="50000"/>
                    <a:lumOff val="50000"/>
                  </a:schemeClr>
                </a:solidFill>
                <a:latin typeface="Franklin Gothic Demi Cond" panose="020B0706030402020204" pitchFamily="34" charset="0"/>
              </a:rPr>
              <a:t>Translation: On _____ ponds, one can go ice-skating in winter.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BF50063-A852-30AA-88A3-6C57F4DDF3DE}"/>
              </a:ext>
            </a:extLst>
          </p:cNvPr>
          <p:cNvSpPr/>
          <p:nvPr/>
        </p:nvSpPr>
        <p:spPr>
          <a:xfrm>
            <a:off x="1842520" y="3969593"/>
            <a:ext cx="3807653" cy="525440"/>
          </a:xfrm>
          <a:prstGeom prst="round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r>
              <a:rPr lang="en-GB" sz="1400">
                <a:solidFill>
                  <a:schemeClr val="tx1"/>
                </a:solidFill>
                <a:latin typeface="Franklin Gothic Demi Cond" panose="020B0706030402020204" pitchFamily="34" charset="0"/>
              </a:rPr>
              <a:t>Test categories: verbs, </a:t>
            </a:r>
            <a:r>
              <a:rPr lang="en-GB" sz="1400" err="1">
                <a:solidFill>
                  <a:schemeClr val="tx1"/>
                </a:solidFill>
                <a:latin typeface="Franklin Gothic Demi Cond" panose="020B0706030402020204" pitchFamily="34" charset="0"/>
              </a:rPr>
              <a:t>verbs_past_tense</a:t>
            </a:r>
            <a:r>
              <a:rPr lang="en-GB" sz="1400">
                <a:solidFill>
                  <a:schemeClr val="tx1"/>
                </a:solidFill>
                <a:latin typeface="Franklin Gothic Demi Cond" panose="020B0706030402020204" pitchFamily="34" charset="0"/>
              </a:rPr>
              <a:t>, </a:t>
            </a:r>
            <a:r>
              <a:rPr lang="en-GB" sz="1400" err="1">
                <a:solidFill>
                  <a:schemeClr val="tx1"/>
                </a:solidFill>
                <a:latin typeface="Franklin Gothic Demi Cond" panose="020B0706030402020204" pitchFamily="34" charset="0"/>
              </a:rPr>
              <a:t>n_rule</a:t>
            </a:r>
            <a:endParaRPr lang="en-GB" sz="1400">
              <a:solidFill>
                <a:schemeClr val="tx1"/>
              </a:solidFill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9049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25B42-A4AE-B514-D80F-10EC88BE3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074DD-33F2-5C43-93C7-FF2E3D18C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37992"/>
                </a:solidFill>
                <a:cs typeface="Arial"/>
              </a:rPr>
              <a:t>Can an </a:t>
            </a:r>
            <a:r>
              <a:rPr lang="en-US" dirty="0" err="1">
                <a:solidFill>
                  <a:srgbClr val="537992"/>
                </a:solidFill>
                <a:cs typeface="Arial"/>
              </a:rPr>
              <a:t>llm</a:t>
            </a:r>
            <a:r>
              <a:rPr lang="en-US" dirty="0">
                <a:solidFill>
                  <a:srgbClr val="537992"/>
                </a:solidFill>
                <a:cs typeface="Arial"/>
              </a:rPr>
              <a:t> pass the national language exam for Luxembourgish?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DF222-4CB8-4B8F-C5D9-AB1A1C28D1D9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IE"/>
              <a:t>Example Grammar Question: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B0336-2D1E-1CFB-0A52-B1C525E0A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31</a:t>
            </a:fld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EC608E0-CDFE-01F7-64A2-C26B4EFE8CAF}"/>
              </a:ext>
            </a:extLst>
          </p:cNvPr>
          <p:cNvSpPr/>
          <p:nvPr/>
        </p:nvSpPr>
        <p:spPr>
          <a:xfrm>
            <a:off x="758318" y="1973208"/>
            <a:ext cx="7191526" cy="1019007"/>
          </a:xfrm>
          <a:prstGeom prst="round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r>
              <a:rPr lang="en-GB" sz="1400">
                <a:solidFill>
                  <a:schemeClr val="tx1"/>
                </a:solidFill>
                <a:latin typeface="Miriam Fixed"/>
                <a:cs typeface="Miriam Fixed"/>
              </a:rPr>
              <a:t>TEXT: Op [BLANK] </a:t>
            </a:r>
            <a:r>
              <a:rPr lang="en-GB" sz="1400" err="1">
                <a:solidFill>
                  <a:schemeClr val="tx1"/>
                </a:solidFill>
                <a:latin typeface="Miriam Fixed"/>
                <a:cs typeface="Miriam Fixed"/>
              </a:rPr>
              <a:t>Weiere</a:t>
            </a:r>
            <a:r>
              <a:rPr lang="en-GB" sz="1400">
                <a:solidFill>
                  <a:schemeClr val="tx1"/>
                </a:solidFill>
                <a:latin typeface="Miriam Fixed"/>
                <a:cs typeface="Miriam Fixed"/>
              </a:rPr>
              <a:t> </a:t>
            </a:r>
            <a:r>
              <a:rPr lang="en-GB" sz="1400" err="1">
                <a:solidFill>
                  <a:schemeClr val="tx1"/>
                </a:solidFill>
                <a:latin typeface="Miriam Fixed"/>
                <a:cs typeface="Miriam Fixed"/>
              </a:rPr>
              <a:t>kann</a:t>
            </a:r>
            <a:r>
              <a:rPr lang="en-GB" sz="1400">
                <a:solidFill>
                  <a:schemeClr val="tx1"/>
                </a:solidFill>
                <a:latin typeface="Miriam Fixed"/>
                <a:cs typeface="Miriam Fixed"/>
              </a:rPr>
              <a:t> </a:t>
            </a:r>
            <a:r>
              <a:rPr lang="en-GB" sz="1400" err="1">
                <a:solidFill>
                  <a:schemeClr val="tx1"/>
                </a:solidFill>
                <a:latin typeface="Miriam Fixed"/>
                <a:cs typeface="Miriam Fixed"/>
              </a:rPr>
              <a:t>een</a:t>
            </a:r>
            <a:r>
              <a:rPr lang="en-GB" sz="1400">
                <a:solidFill>
                  <a:schemeClr val="tx1"/>
                </a:solidFill>
                <a:latin typeface="Miriam Fixed"/>
                <a:cs typeface="Miriam Fixed"/>
              </a:rPr>
              <a:t> am </a:t>
            </a:r>
            <a:r>
              <a:rPr lang="en-GB" sz="1400" err="1">
                <a:solidFill>
                  <a:schemeClr val="tx1"/>
                </a:solidFill>
                <a:latin typeface="Miriam Fixed"/>
                <a:cs typeface="Miriam Fixed"/>
              </a:rPr>
              <a:t>Wanter</a:t>
            </a:r>
            <a:r>
              <a:rPr lang="en-GB" sz="1400">
                <a:solidFill>
                  <a:schemeClr val="tx1"/>
                </a:solidFill>
                <a:latin typeface="Miriam Fixed"/>
                <a:cs typeface="Miriam Fixed"/>
              </a:rPr>
              <a:t> </a:t>
            </a:r>
            <a:r>
              <a:rPr lang="en-GB" sz="1400" err="1">
                <a:solidFill>
                  <a:schemeClr val="tx1"/>
                </a:solidFill>
                <a:latin typeface="Miriam Fixed"/>
                <a:cs typeface="Miriam Fixed"/>
              </a:rPr>
              <a:t>Schlittschong</a:t>
            </a:r>
            <a:r>
              <a:rPr lang="en-GB" sz="1400">
                <a:solidFill>
                  <a:schemeClr val="tx1"/>
                </a:solidFill>
                <a:latin typeface="Miriam Fixed"/>
                <a:cs typeface="Miriam Fixed"/>
              </a:rPr>
              <a:t> </a:t>
            </a:r>
            <a:r>
              <a:rPr lang="en-GB" sz="1400" err="1">
                <a:solidFill>
                  <a:schemeClr val="tx1"/>
                </a:solidFill>
                <a:latin typeface="Miriam Fixed"/>
                <a:cs typeface="Miriam Fixed"/>
              </a:rPr>
              <a:t>fueren</a:t>
            </a:r>
            <a:r>
              <a:rPr lang="en-GB" sz="1400">
                <a:solidFill>
                  <a:schemeClr val="tx1"/>
                </a:solidFill>
                <a:latin typeface="Miriam Fixed"/>
                <a:cs typeface="Miriam Fixed"/>
              </a:rPr>
              <a:t>.</a:t>
            </a:r>
            <a:br>
              <a:rPr lang="en-GB" sz="1400">
                <a:latin typeface="Miriam Fixed"/>
              </a:rPr>
            </a:br>
            <a:r>
              <a:rPr lang="en-GB" sz="1400">
                <a:solidFill>
                  <a:schemeClr val="tx1"/>
                </a:solidFill>
                <a:latin typeface="Miriam Fixed"/>
                <a:cs typeface="Miriam Fixed"/>
              </a:rPr>
              <a:t>ANSWERS: [</a:t>
            </a:r>
            <a:r>
              <a:rPr lang="en-GB" sz="1400" err="1">
                <a:solidFill>
                  <a:schemeClr val="tx1"/>
                </a:solidFill>
                <a:latin typeface="Miriam Fixed"/>
                <a:cs typeface="Miriam Fixed"/>
              </a:rPr>
              <a:t>zougefruer</a:t>
            </a:r>
            <a:r>
              <a:rPr lang="en-GB" sz="1400">
                <a:solidFill>
                  <a:schemeClr val="tx1"/>
                </a:solidFill>
                <a:latin typeface="Miriam Fixed"/>
                <a:cs typeface="Miriam Fixed"/>
              </a:rPr>
              <a:t>, </a:t>
            </a:r>
            <a:r>
              <a:rPr lang="en-GB" sz="1400" err="1">
                <a:solidFill>
                  <a:schemeClr val="tx1"/>
                </a:solidFill>
                <a:latin typeface="Miriam Fixed"/>
                <a:cs typeface="Miriam Fixed"/>
              </a:rPr>
              <a:t>zoufréieren</a:t>
            </a:r>
            <a:r>
              <a:rPr lang="en-GB" sz="1400">
                <a:solidFill>
                  <a:schemeClr val="tx1"/>
                </a:solidFill>
                <a:latin typeface="Miriam Fixed"/>
                <a:cs typeface="Miriam Fixed"/>
              </a:rPr>
              <a:t>, </a:t>
            </a:r>
            <a:r>
              <a:rPr lang="en-GB" sz="1400" err="1">
                <a:solidFill>
                  <a:schemeClr val="tx1"/>
                </a:solidFill>
                <a:latin typeface="Miriam Fixed"/>
                <a:cs typeface="Miriam Fixed"/>
              </a:rPr>
              <a:t>zougefruere</a:t>
            </a:r>
            <a:r>
              <a:rPr lang="en-GB" sz="1400">
                <a:solidFill>
                  <a:schemeClr val="tx1"/>
                </a:solidFill>
                <a:latin typeface="Miriam Fixed"/>
                <a:cs typeface="Miriam Fixed"/>
              </a:rPr>
              <a:t>, </a:t>
            </a:r>
            <a:r>
              <a:rPr lang="en-GB" sz="1400" err="1">
                <a:solidFill>
                  <a:schemeClr val="tx1"/>
                </a:solidFill>
                <a:latin typeface="Miriam Fixed"/>
                <a:cs typeface="Miriam Fixed"/>
              </a:rPr>
              <a:t>zougefrueren</a:t>
            </a:r>
            <a:r>
              <a:rPr lang="en-GB" sz="1400">
                <a:solidFill>
                  <a:schemeClr val="tx1"/>
                </a:solidFill>
                <a:latin typeface="Miriam Fixed"/>
                <a:cs typeface="Miriam Fixed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059916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67993-D19D-F5A7-50A4-4FEDE8C72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DF958-EBC6-D0B4-20D8-5E47334B4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37992"/>
                </a:solidFill>
                <a:cs typeface="Arial"/>
              </a:rPr>
              <a:t>Can an </a:t>
            </a:r>
            <a:r>
              <a:rPr lang="en-US" dirty="0" err="1">
                <a:solidFill>
                  <a:srgbClr val="537992"/>
                </a:solidFill>
                <a:cs typeface="Arial"/>
              </a:rPr>
              <a:t>llm</a:t>
            </a:r>
            <a:r>
              <a:rPr lang="en-US" dirty="0">
                <a:solidFill>
                  <a:srgbClr val="537992"/>
                </a:solidFill>
                <a:cs typeface="Arial"/>
              </a:rPr>
              <a:t> pass the national language exam for Luxembourgish?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4D0C8-28C2-7716-F4D6-854EE8F768D1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IE"/>
              <a:t>Testing Pipeline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C2F79-D01A-E69D-73F1-9939EE42EB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32</a:t>
            </a:fld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769DB8-1D22-ACC9-F10B-BD013E4A32A7}"/>
              </a:ext>
            </a:extLst>
          </p:cNvPr>
          <p:cNvSpPr/>
          <p:nvPr/>
        </p:nvSpPr>
        <p:spPr>
          <a:xfrm>
            <a:off x="3341662" y="2514853"/>
            <a:ext cx="956737" cy="74506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600"/>
              <a:t>Test LLMs</a:t>
            </a: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3D542008-883E-65C9-E2B5-408F4997AD32}"/>
              </a:ext>
            </a:extLst>
          </p:cNvPr>
          <p:cNvSpPr/>
          <p:nvPr/>
        </p:nvSpPr>
        <p:spPr>
          <a:xfrm>
            <a:off x="558245" y="2427476"/>
            <a:ext cx="1100667" cy="919819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600"/>
              <a:t>language exams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739F963-3289-B3A2-B6D9-DAC4BC27671A}"/>
              </a:ext>
            </a:extLst>
          </p:cNvPr>
          <p:cNvSpPr/>
          <p:nvPr/>
        </p:nvSpPr>
        <p:spPr>
          <a:xfrm>
            <a:off x="1849412" y="2599519"/>
            <a:ext cx="1227668" cy="57573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400"/>
              <a:t>Prompts</a:t>
            </a:r>
            <a:endParaRPr lang="en-IE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010C0C-47C5-DD8E-3694-AA7F4773DA41}"/>
              </a:ext>
            </a:extLst>
          </p:cNvPr>
          <p:cNvCxnSpPr>
            <a:cxnSpLocks/>
            <a:stCxn id="8" idx="4"/>
            <a:endCxn id="9" idx="2"/>
          </p:cNvCxnSpPr>
          <p:nvPr/>
        </p:nvCxnSpPr>
        <p:spPr>
          <a:xfrm>
            <a:off x="1658912" y="2887386"/>
            <a:ext cx="1905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936966-D734-E674-6C4A-8BF021A51607}"/>
              </a:ext>
            </a:extLst>
          </p:cNvPr>
          <p:cNvCxnSpPr>
            <a:cxnSpLocks/>
            <a:stCxn id="9" idx="6"/>
            <a:endCxn id="7" idx="1"/>
          </p:cNvCxnSpPr>
          <p:nvPr/>
        </p:nvCxnSpPr>
        <p:spPr>
          <a:xfrm>
            <a:off x="3077080" y="2887386"/>
            <a:ext cx="2645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438A2C43-40FC-516E-598A-021580605C75}"/>
              </a:ext>
            </a:extLst>
          </p:cNvPr>
          <p:cNvSpPr/>
          <p:nvPr/>
        </p:nvSpPr>
        <p:spPr>
          <a:xfrm>
            <a:off x="4827555" y="2599518"/>
            <a:ext cx="1485902" cy="57573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400"/>
              <a:t>Answers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8AFF0A6-D51C-DE79-AA13-94C36B8AEA20}"/>
              </a:ext>
            </a:extLst>
          </p:cNvPr>
          <p:cNvSpPr/>
          <p:nvPr/>
        </p:nvSpPr>
        <p:spPr>
          <a:xfrm>
            <a:off x="6637301" y="1812119"/>
            <a:ext cx="1549407" cy="745066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600"/>
              <a:t>Grading + Score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9956BE-A776-C201-CD84-5299E962D782}"/>
              </a:ext>
            </a:extLst>
          </p:cNvPr>
          <p:cNvSpPr/>
          <p:nvPr/>
        </p:nvSpPr>
        <p:spPr>
          <a:xfrm>
            <a:off x="6637301" y="3059429"/>
            <a:ext cx="1727210" cy="74506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1600"/>
              <a:t>Data Visualisation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06280D9-664B-E524-09B0-D0C23291AA6E}"/>
              </a:ext>
            </a:extLst>
          </p:cNvPr>
          <p:cNvCxnSpPr>
            <a:stCxn id="13" idx="6"/>
            <a:endCxn id="14" idx="1"/>
          </p:cNvCxnSpPr>
          <p:nvPr/>
        </p:nvCxnSpPr>
        <p:spPr>
          <a:xfrm flipV="1">
            <a:off x="6313457" y="2184652"/>
            <a:ext cx="323844" cy="70273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62229F84-891D-FA35-E264-53A40DCAE597}"/>
              </a:ext>
            </a:extLst>
          </p:cNvPr>
          <p:cNvCxnSpPr>
            <a:stCxn id="13" idx="6"/>
            <a:endCxn id="15" idx="1"/>
          </p:cNvCxnSpPr>
          <p:nvPr/>
        </p:nvCxnSpPr>
        <p:spPr>
          <a:xfrm>
            <a:off x="6313457" y="2887385"/>
            <a:ext cx="323844" cy="54457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DD0C3E-1090-11AD-08BE-FDE2C34DA67D}"/>
              </a:ext>
            </a:extLst>
          </p:cNvPr>
          <p:cNvCxnSpPr>
            <a:stCxn id="7" idx="3"/>
            <a:endCxn id="13" idx="2"/>
          </p:cNvCxnSpPr>
          <p:nvPr/>
        </p:nvCxnSpPr>
        <p:spPr>
          <a:xfrm flipV="1">
            <a:off x="4298399" y="2887385"/>
            <a:ext cx="52915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18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0AAF1-3870-55A9-C73A-83E0B66F2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6C568C-2761-B80A-284E-C48344233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035"/>
            <a:ext cx="9144000" cy="49354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587AB3D-0ADD-68BE-26B1-46577895A357}"/>
              </a:ext>
            </a:extLst>
          </p:cNvPr>
          <p:cNvSpPr/>
          <p:nvPr/>
        </p:nvSpPr>
        <p:spPr>
          <a:xfrm>
            <a:off x="54591" y="116006"/>
            <a:ext cx="1398896" cy="2524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endParaRPr lang="en-GB" sz="14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48E41-0208-CE8F-0BD2-F505DD0F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14" y="179493"/>
            <a:ext cx="8424000" cy="639763"/>
          </a:xfrm>
        </p:spPr>
        <p:txBody>
          <a:bodyPr/>
          <a:lstStyle/>
          <a:p>
            <a:r>
              <a:rPr lang="en-US" dirty="0">
                <a:solidFill>
                  <a:srgbClr val="537992"/>
                </a:solidFill>
                <a:cs typeface="Arial"/>
              </a:rPr>
              <a:t>Can an </a:t>
            </a:r>
            <a:r>
              <a:rPr lang="en-US" dirty="0" err="1">
                <a:solidFill>
                  <a:srgbClr val="537992"/>
                </a:solidFill>
                <a:cs typeface="Arial"/>
              </a:rPr>
              <a:t>llm</a:t>
            </a:r>
            <a:r>
              <a:rPr lang="en-US" dirty="0">
                <a:solidFill>
                  <a:srgbClr val="537992"/>
                </a:solidFill>
                <a:cs typeface="Arial"/>
              </a:rPr>
              <a:t> pass the national language exam for Luxembourgish?</a:t>
            </a:r>
            <a:endParaRPr lang="en-I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C8719-5939-5911-83BD-BDC4ADF8B826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278114" y="617447"/>
            <a:ext cx="8424000" cy="252412"/>
          </a:xfrm>
        </p:spPr>
        <p:txBody>
          <a:bodyPr/>
          <a:lstStyle/>
          <a:p>
            <a:r>
              <a:rPr lang="en-IE"/>
              <a:t>Exam Results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A3CA0-8A8B-C57E-6720-2CD8788C2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33</a:t>
            </a:fld>
            <a:endParaRPr lang="en-GB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F42F7D-51AE-131D-5F75-63EB62096AB1}"/>
              </a:ext>
            </a:extLst>
          </p:cNvPr>
          <p:cNvCxnSpPr/>
          <p:nvPr/>
        </p:nvCxnSpPr>
        <p:spPr>
          <a:xfrm>
            <a:off x="352144" y="2129051"/>
            <a:ext cx="80753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891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F284-1B3B-C9B3-C4EB-6487CBBCA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37992"/>
                </a:solidFill>
                <a:cs typeface="Arial"/>
              </a:rPr>
              <a:t>Can an </a:t>
            </a:r>
            <a:r>
              <a:rPr lang="en-US" dirty="0" err="1">
                <a:solidFill>
                  <a:srgbClr val="537992"/>
                </a:solidFill>
                <a:cs typeface="Arial"/>
              </a:rPr>
              <a:t>llm</a:t>
            </a:r>
            <a:r>
              <a:rPr lang="en-US" dirty="0">
                <a:solidFill>
                  <a:srgbClr val="537992"/>
                </a:solidFill>
                <a:cs typeface="Arial"/>
              </a:rPr>
              <a:t> pass the national language exam for Luxembourgish?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D9D1F-24A6-45F1-7A37-0AC8DFD52EFB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GB"/>
              <a:t>Coarse-grained Categories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18BE2-AE0A-D49B-1611-E8831177B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34</a:t>
            </a:fld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E9A0EC-C5B4-BEF3-DDBA-F7DAD8D01682}"/>
              </a:ext>
            </a:extLst>
          </p:cNvPr>
          <p:cNvSpPr/>
          <p:nvPr/>
        </p:nvSpPr>
        <p:spPr>
          <a:xfrm>
            <a:off x="362309" y="1478351"/>
            <a:ext cx="2240710" cy="46151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r>
              <a:rPr lang="en-GB" sz="1600">
                <a:solidFill>
                  <a:schemeClr val="tx1"/>
                </a:solidFill>
                <a:latin typeface="Franklin Gothic Demi Cond"/>
              </a:rPr>
              <a:t>Vocabulary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40D93D9-3EDF-A6AF-1035-4162A05E031C}"/>
              </a:ext>
            </a:extLst>
          </p:cNvPr>
          <p:cNvSpPr/>
          <p:nvPr/>
        </p:nvSpPr>
        <p:spPr>
          <a:xfrm>
            <a:off x="3230592" y="1478351"/>
            <a:ext cx="2240710" cy="46151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r>
              <a:rPr lang="en-GB" sz="1600">
                <a:solidFill>
                  <a:schemeClr val="tx1"/>
                </a:solidFill>
                <a:latin typeface="Franklin Gothic Demi Cond"/>
              </a:rPr>
              <a:t>Grammar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C721081-A8FD-9822-6036-A51DE15857B6}"/>
              </a:ext>
            </a:extLst>
          </p:cNvPr>
          <p:cNvSpPr/>
          <p:nvPr/>
        </p:nvSpPr>
        <p:spPr>
          <a:xfrm>
            <a:off x="6098875" y="1478351"/>
            <a:ext cx="2240709" cy="46151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r>
              <a:rPr lang="en-GB" sz="1600">
                <a:solidFill>
                  <a:schemeClr val="tx1"/>
                </a:solidFill>
                <a:latin typeface="Franklin Gothic Demi Cond"/>
              </a:rPr>
              <a:t>Reading Comprehension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24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B355F-B469-9D4C-6C64-1B0065648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1BF855-63D5-FFE9-B81D-9B6444E7A769}"/>
              </a:ext>
            </a:extLst>
          </p:cNvPr>
          <p:cNvSpPr/>
          <p:nvPr/>
        </p:nvSpPr>
        <p:spPr>
          <a:xfrm>
            <a:off x="6098474" y="1478350"/>
            <a:ext cx="2240710" cy="1557371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marL="285750" indent="-285750">
              <a:buFont typeface="Calibri"/>
              <a:buChar char="-"/>
            </a:pPr>
            <a:endParaRPr lang="en-GB" sz="1600">
              <a:solidFill>
                <a:schemeClr val="tx1"/>
              </a:solidFill>
              <a:latin typeface="Franklin Gothic Demi Cond"/>
            </a:endParaRPr>
          </a:p>
          <a:p>
            <a:pPr marL="285750" indent="-285750">
              <a:buFont typeface="Calibri"/>
              <a:buChar char="-"/>
            </a:pPr>
            <a:endParaRPr lang="en-GB" sz="1600">
              <a:solidFill>
                <a:schemeClr val="tx1"/>
              </a:solidFill>
              <a:latin typeface="Franklin Gothic Demi Cond"/>
            </a:endParaRPr>
          </a:p>
          <a:p>
            <a:pPr marL="285750" indent="-285750">
              <a:buFont typeface="Calibri"/>
              <a:buChar char="-"/>
            </a:pPr>
            <a:r>
              <a:rPr lang="en-GB" sz="1600">
                <a:solidFill>
                  <a:schemeClr val="tx1"/>
                </a:solidFill>
                <a:latin typeface="Franklin Gothic Demi Cond"/>
              </a:rPr>
              <a:t>True/False</a:t>
            </a:r>
            <a:endParaRPr lang="en-US">
              <a:solidFill>
                <a:schemeClr val="tx1"/>
              </a:solidFill>
              <a:latin typeface="Arial" panose="020B0604020202020204"/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GB" sz="1600">
                <a:solidFill>
                  <a:schemeClr val="tx1"/>
                </a:solidFill>
                <a:latin typeface="Franklin Gothic Demi Cond"/>
                <a:cs typeface="Arial"/>
              </a:rPr>
              <a:t>Simple</a:t>
            </a:r>
          </a:p>
          <a:p>
            <a:pPr marL="285750" indent="-285750">
              <a:buFont typeface="Calibri"/>
              <a:buChar char="-"/>
            </a:pPr>
            <a:r>
              <a:rPr lang="en-GB" sz="1600">
                <a:solidFill>
                  <a:schemeClr val="tx1"/>
                </a:solidFill>
                <a:latin typeface="Franklin Gothic Demi Cond"/>
                <a:cs typeface="Arial"/>
              </a:rPr>
              <a:t>Complex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ED3282-8C9A-8686-2C9D-671D76C521BF}"/>
              </a:ext>
            </a:extLst>
          </p:cNvPr>
          <p:cNvSpPr/>
          <p:nvPr/>
        </p:nvSpPr>
        <p:spPr>
          <a:xfrm>
            <a:off x="3230391" y="1478349"/>
            <a:ext cx="2240710" cy="3388286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marL="285750" indent="-285750">
              <a:buFont typeface="Calibri"/>
              <a:buChar char="-"/>
            </a:pPr>
            <a:endParaRPr lang="en-GB" sz="1600">
              <a:solidFill>
                <a:schemeClr val="tx1"/>
              </a:solidFill>
              <a:latin typeface="Franklin Gothic Demi Cond"/>
            </a:endParaRPr>
          </a:p>
          <a:p>
            <a:pPr marL="285750" indent="-285750">
              <a:buFont typeface="Calibri"/>
              <a:buChar char="-"/>
            </a:pPr>
            <a:r>
              <a:rPr lang="en-GB" sz="1600">
                <a:solidFill>
                  <a:schemeClr val="tx1"/>
                </a:solidFill>
                <a:latin typeface="Franklin Gothic Demi Cond"/>
              </a:rPr>
              <a:t>Gender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GB" sz="1600">
                <a:solidFill>
                  <a:schemeClr val="tx1"/>
                </a:solidFill>
                <a:latin typeface="Franklin Gothic Demi Cond"/>
              </a:rPr>
              <a:t>Pronouns</a:t>
            </a:r>
          </a:p>
          <a:p>
            <a:pPr marL="285750" indent="-285750">
              <a:buFont typeface="Calibri"/>
              <a:buChar char="-"/>
            </a:pPr>
            <a:r>
              <a:rPr lang="en-GB" sz="1600">
                <a:solidFill>
                  <a:schemeClr val="tx1"/>
                </a:solidFill>
                <a:latin typeface="Franklin Gothic Demi Cond"/>
              </a:rPr>
              <a:t>Verbs</a:t>
            </a:r>
          </a:p>
          <a:p>
            <a:pPr marL="285750" indent="-285750">
              <a:buFont typeface="Calibri"/>
              <a:buChar char="-"/>
            </a:pPr>
            <a:r>
              <a:rPr lang="en-GB" sz="1600">
                <a:solidFill>
                  <a:schemeClr val="tx1"/>
                </a:solidFill>
                <a:latin typeface="Franklin Gothic Demi Cond"/>
              </a:rPr>
              <a:t>Adjectives</a:t>
            </a:r>
          </a:p>
          <a:p>
            <a:pPr marL="285750" indent="-285750">
              <a:buFont typeface="Calibri"/>
              <a:buChar char="-"/>
            </a:pPr>
            <a:r>
              <a:rPr lang="en-GB" sz="1600">
                <a:solidFill>
                  <a:schemeClr val="tx1"/>
                </a:solidFill>
                <a:latin typeface="Franklin Gothic Demi Cond"/>
              </a:rPr>
              <a:t>Tense</a:t>
            </a:r>
          </a:p>
          <a:p>
            <a:pPr marL="285750" indent="-285750">
              <a:buFont typeface="Calibri"/>
              <a:buChar char="-"/>
            </a:pPr>
            <a:r>
              <a:rPr lang="en-GB" sz="1600">
                <a:solidFill>
                  <a:schemeClr val="tx1"/>
                </a:solidFill>
                <a:latin typeface="Franklin Gothic Demi Cond"/>
              </a:rPr>
              <a:t>Past tense</a:t>
            </a:r>
          </a:p>
          <a:p>
            <a:pPr marL="285750" indent="-285750">
              <a:buFont typeface="Calibri"/>
              <a:buChar char="-"/>
            </a:pPr>
            <a:r>
              <a:rPr lang="en-GB" sz="1600">
                <a:solidFill>
                  <a:schemeClr val="tx1"/>
                </a:solidFill>
                <a:latin typeface="Franklin Gothic Demi Cond"/>
              </a:rPr>
              <a:t>Present tense</a:t>
            </a:r>
          </a:p>
          <a:p>
            <a:pPr marL="285750" indent="-285750">
              <a:buFont typeface="Calibri"/>
              <a:buChar char="-"/>
            </a:pPr>
            <a:r>
              <a:rPr lang="en-GB" sz="1600">
                <a:solidFill>
                  <a:schemeClr val="tx1"/>
                </a:solidFill>
                <a:latin typeface="Franklin Gothic Demi Cond"/>
              </a:rPr>
              <a:t>Subjunctive tense</a:t>
            </a:r>
          </a:p>
          <a:p>
            <a:pPr marL="285750" indent="-285750">
              <a:buFont typeface="Calibri"/>
              <a:buChar char="-"/>
            </a:pPr>
            <a:r>
              <a:rPr lang="en-GB" sz="1600">
                <a:solidFill>
                  <a:schemeClr val="tx1"/>
                </a:solidFill>
                <a:latin typeface="Franklin Gothic Demi Cond"/>
              </a:rPr>
              <a:t>Modal verbs</a:t>
            </a:r>
          </a:p>
          <a:p>
            <a:pPr marL="285750" indent="-285750">
              <a:buFont typeface="Calibri"/>
              <a:buChar char="-"/>
            </a:pPr>
            <a:r>
              <a:rPr lang="en-GB" sz="1600">
                <a:solidFill>
                  <a:schemeClr val="tx1"/>
                </a:solidFill>
                <a:latin typeface="Franklin Gothic Demi Cond"/>
              </a:rPr>
              <a:t>Prepositions</a:t>
            </a:r>
          </a:p>
          <a:p>
            <a:pPr marL="285750" indent="-285750">
              <a:buFont typeface="Calibri"/>
              <a:buChar char="-"/>
            </a:pPr>
            <a:r>
              <a:rPr lang="en-GB" sz="1600">
                <a:solidFill>
                  <a:schemeClr val="tx1"/>
                </a:solidFill>
                <a:latin typeface="Franklin Gothic Demi Cond"/>
              </a:rPr>
              <a:t>Cases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062CA4-B529-8E51-ED37-7F382D8B502F}"/>
              </a:ext>
            </a:extLst>
          </p:cNvPr>
          <p:cNvSpPr/>
          <p:nvPr/>
        </p:nvSpPr>
        <p:spPr>
          <a:xfrm>
            <a:off x="362308" y="1478350"/>
            <a:ext cx="2240710" cy="198070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marL="285750" indent="-285750">
              <a:buFont typeface="Calibri"/>
              <a:buChar char="-"/>
            </a:pPr>
            <a:endParaRPr lang="en-GB" sz="1600">
              <a:solidFill>
                <a:schemeClr val="tx1"/>
              </a:solidFill>
              <a:latin typeface="Franklin Gothic Demi Cond"/>
            </a:endParaRPr>
          </a:p>
          <a:p>
            <a:pPr marL="285750" indent="-285750">
              <a:buFont typeface="Calibri"/>
              <a:buChar char="-"/>
            </a:pPr>
            <a:endParaRPr lang="en-GB" sz="1600">
              <a:solidFill>
                <a:schemeClr val="tx1"/>
              </a:solidFill>
              <a:latin typeface="Franklin Gothic Demi Cond"/>
            </a:endParaRPr>
          </a:p>
          <a:p>
            <a:pPr marL="285750" indent="-285750">
              <a:buFont typeface="Calibri"/>
              <a:buChar char="-"/>
            </a:pPr>
            <a:r>
              <a:rPr lang="en-GB" sz="1600">
                <a:solidFill>
                  <a:schemeClr val="tx1"/>
                </a:solidFill>
                <a:latin typeface="Franklin Gothic Demi Cond"/>
              </a:rPr>
              <a:t>Idiom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marL="285750" indent="-285750">
              <a:buFont typeface="Calibri"/>
              <a:buChar char="-"/>
            </a:pPr>
            <a:r>
              <a:rPr lang="en-GB" sz="1600">
                <a:solidFill>
                  <a:schemeClr val="tx1"/>
                </a:solidFill>
                <a:latin typeface="Franklin Gothic Demi Cond"/>
              </a:rPr>
              <a:t>Noun</a:t>
            </a:r>
          </a:p>
          <a:p>
            <a:pPr marL="285750" indent="-285750">
              <a:buFont typeface="Calibri"/>
              <a:buChar char="-"/>
            </a:pPr>
            <a:r>
              <a:rPr lang="en-GB" sz="1600">
                <a:solidFill>
                  <a:schemeClr val="tx1"/>
                </a:solidFill>
                <a:latin typeface="Franklin Gothic Demi Cond"/>
              </a:rPr>
              <a:t>Verb</a:t>
            </a:r>
          </a:p>
          <a:p>
            <a:pPr marL="285750" indent="-285750">
              <a:buFont typeface="Calibri"/>
              <a:buChar char="-"/>
            </a:pPr>
            <a:r>
              <a:rPr lang="en-GB" sz="1600">
                <a:solidFill>
                  <a:schemeClr val="tx1"/>
                </a:solidFill>
                <a:latin typeface="Franklin Gothic Demi Cond"/>
              </a:rPr>
              <a:t>Adjective</a:t>
            </a:r>
          </a:p>
          <a:p>
            <a:pPr marL="285750" indent="-285750">
              <a:buFont typeface="Calibri"/>
              <a:buChar char="-"/>
            </a:pPr>
            <a:r>
              <a:rPr lang="en-GB" sz="1600">
                <a:solidFill>
                  <a:schemeClr val="tx1"/>
                </a:solidFill>
                <a:latin typeface="Franklin Gothic Demi Cond"/>
              </a:rPr>
              <a:t>Native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85952-12AE-A299-5F78-0845FFE00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37992"/>
                </a:solidFill>
                <a:cs typeface="Arial"/>
              </a:rPr>
              <a:t>Can an </a:t>
            </a:r>
            <a:r>
              <a:rPr lang="en-US" dirty="0" err="1">
                <a:solidFill>
                  <a:srgbClr val="537992"/>
                </a:solidFill>
                <a:cs typeface="Arial"/>
              </a:rPr>
              <a:t>llm</a:t>
            </a:r>
            <a:r>
              <a:rPr lang="en-US" dirty="0">
                <a:solidFill>
                  <a:srgbClr val="537992"/>
                </a:solidFill>
                <a:cs typeface="Arial"/>
              </a:rPr>
              <a:t> pass the national language exam for Luxembourgish?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468C6-3C9F-A1DC-720F-13C59F94120D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GB"/>
              <a:t>Fine-grained Categories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DB1CF-C889-E668-716C-B537B5570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35</a:t>
            </a:fld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A70578-24E6-C6AF-BE32-CC74E9AAB001}"/>
              </a:ext>
            </a:extLst>
          </p:cNvPr>
          <p:cNvSpPr/>
          <p:nvPr/>
        </p:nvSpPr>
        <p:spPr>
          <a:xfrm>
            <a:off x="362309" y="1478351"/>
            <a:ext cx="2240710" cy="46151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r>
              <a:rPr lang="en-GB" sz="1600">
                <a:solidFill>
                  <a:schemeClr val="tx1"/>
                </a:solidFill>
                <a:latin typeface="Franklin Gothic Demi Cond"/>
              </a:rPr>
              <a:t>Vocabulary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C46AFD5-4049-075C-478F-43380F8D2BEA}"/>
              </a:ext>
            </a:extLst>
          </p:cNvPr>
          <p:cNvSpPr/>
          <p:nvPr/>
        </p:nvSpPr>
        <p:spPr>
          <a:xfrm>
            <a:off x="3230592" y="1478351"/>
            <a:ext cx="2240710" cy="46151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r>
              <a:rPr lang="en-GB" sz="1600">
                <a:solidFill>
                  <a:schemeClr val="tx1"/>
                </a:solidFill>
                <a:latin typeface="Franklin Gothic Demi Cond"/>
              </a:rPr>
              <a:t>Grammar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6DB511-064C-8D59-A2B6-F8E389FA92B6}"/>
              </a:ext>
            </a:extLst>
          </p:cNvPr>
          <p:cNvSpPr/>
          <p:nvPr/>
        </p:nvSpPr>
        <p:spPr>
          <a:xfrm>
            <a:off x="6098875" y="1478351"/>
            <a:ext cx="2240709" cy="461514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228600" tIns="228600" rIns="228600" bIns="228600" rtlCol="0" anchor="ctr">
            <a:noAutofit/>
          </a:bodyPr>
          <a:lstStyle/>
          <a:p>
            <a:pPr algn="ctr"/>
            <a:r>
              <a:rPr lang="en-GB" sz="1600">
                <a:solidFill>
                  <a:schemeClr val="tx1"/>
                </a:solidFill>
                <a:latin typeface="Franklin Gothic Demi Cond"/>
              </a:rPr>
              <a:t>Comprehension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94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6E946-3936-DEC8-49AB-8EA92780F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34B4B-65E4-4EEF-3C2F-5C05EB641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37992"/>
                </a:solidFill>
                <a:cs typeface="Arial"/>
              </a:rPr>
              <a:t>Can an </a:t>
            </a:r>
            <a:r>
              <a:rPr lang="en-US" dirty="0" err="1">
                <a:solidFill>
                  <a:srgbClr val="537992"/>
                </a:solidFill>
                <a:cs typeface="Arial"/>
              </a:rPr>
              <a:t>llm</a:t>
            </a:r>
            <a:r>
              <a:rPr lang="en-US" dirty="0">
                <a:solidFill>
                  <a:srgbClr val="537992"/>
                </a:solidFill>
                <a:cs typeface="Arial"/>
              </a:rPr>
              <a:t> pass the national language exam for Luxembourgish?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946F0-903B-9C1A-72FC-6D15A4187342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GB"/>
              <a:t>What types of questions are difficult for LLMs?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EE784C-0457-16DE-0CD8-A92BF55C0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36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7866B-B987-A12E-A992-1B52E355141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accent2"/>
                </a:solidFill>
              </a:rPr>
              <a:t>Vocabulary: </a:t>
            </a:r>
            <a:r>
              <a:rPr lang="en-GB" b="0">
                <a:solidFill>
                  <a:schemeClr val="accent2"/>
                </a:solidFill>
              </a:rPr>
              <a:t>questions relating to </a:t>
            </a:r>
            <a:r>
              <a:rPr lang="en-GB">
                <a:solidFill>
                  <a:schemeClr val="accent2"/>
                </a:solidFill>
              </a:rPr>
              <a:t>native words</a:t>
            </a:r>
            <a:r>
              <a:rPr lang="en-GB" b="0">
                <a:solidFill>
                  <a:schemeClr val="accent2"/>
                </a:solidFill>
              </a:rPr>
              <a:t> and </a:t>
            </a:r>
            <a:r>
              <a:rPr lang="en-GB">
                <a:solidFill>
                  <a:schemeClr val="accent2"/>
                </a:solidFill>
              </a:rPr>
              <a:t>idioms</a:t>
            </a:r>
            <a:br>
              <a:rPr lang="en-GB" b="0"/>
            </a:br>
            <a:r>
              <a:rPr lang="en-GB" b="0">
                <a:solidFill>
                  <a:schemeClr val="accent2"/>
                </a:solidFill>
              </a:rPr>
              <a:t>   Example: Q:   </a:t>
            </a:r>
            <a:r>
              <a:rPr lang="en-GB" b="0" i="1">
                <a:solidFill>
                  <a:schemeClr val="accent2"/>
                </a:solidFill>
              </a:rPr>
              <a:t>Eis </a:t>
            </a:r>
            <a:r>
              <a:rPr lang="en-GB" b="0" i="1" err="1">
                <a:solidFill>
                  <a:schemeClr val="accent2"/>
                </a:solidFill>
              </a:rPr>
              <a:t>Mataarbechter</a:t>
            </a:r>
            <a:r>
              <a:rPr lang="en-GB" b="0" i="1">
                <a:solidFill>
                  <a:schemeClr val="accent2"/>
                </a:solidFill>
              </a:rPr>
              <a:t> </a:t>
            </a:r>
            <a:r>
              <a:rPr lang="en-GB" b="0" i="1" err="1">
                <a:solidFill>
                  <a:schemeClr val="accent2"/>
                </a:solidFill>
              </a:rPr>
              <a:t>sinn</a:t>
            </a:r>
            <a:r>
              <a:rPr lang="en-GB" b="0" i="1">
                <a:solidFill>
                  <a:schemeClr val="accent2"/>
                </a:solidFill>
              </a:rPr>
              <a:t> </a:t>
            </a:r>
            <a:r>
              <a:rPr lang="en-GB" b="0" i="1" err="1">
                <a:solidFill>
                  <a:schemeClr val="accent2"/>
                </a:solidFill>
              </a:rPr>
              <a:t>esou</a:t>
            </a:r>
            <a:r>
              <a:rPr lang="en-GB" b="0" i="1">
                <a:solidFill>
                  <a:schemeClr val="accent2"/>
                </a:solidFill>
              </a:rPr>
              <a:t> </a:t>
            </a:r>
            <a:r>
              <a:rPr lang="en-GB" b="0" i="1" err="1">
                <a:solidFill>
                  <a:schemeClr val="accent2"/>
                </a:solidFill>
              </a:rPr>
              <a:t>zefridde</a:t>
            </a:r>
            <a:r>
              <a:rPr lang="en-GB" b="0" i="1">
                <a:solidFill>
                  <a:schemeClr val="accent2"/>
                </a:solidFill>
              </a:rPr>
              <a:t> mat </a:t>
            </a:r>
            <a:r>
              <a:rPr lang="en-GB" b="0" i="1" err="1">
                <a:solidFill>
                  <a:schemeClr val="accent2"/>
                </a:solidFill>
              </a:rPr>
              <a:t>hiren</a:t>
            </a:r>
            <a:r>
              <a:rPr lang="en-GB" b="0" i="1">
                <a:solidFill>
                  <a:schemeClr val="accent2"/>
                </a:solidFill>
              </a:rPr>
              <a:t> </a:t>
            </a:r>
            <a:r>
              <a:rPr lang="en-GB" b="0" i="1" err="1">
                <a:solidFill>
                  <a:schemeClr val="accent2"/>
                </a:solidFill>
              </a:rPr>
              <a:t>Aarbechtskonditiounen</a:t>
            </a:r>
            <a:r>
              <a:rPr lang="en-GB" b="0" i="1">
                <a:solidFill>
                  <a:schemeClr val="accent2"/>
                </a:solidFill>
              </a:rPr>
              <a:t>, </a:t>
            </a:r>
            <a:br>
              <a:rPr lang="en-GB" b="0" i="1"/>
            </a:br>
            <a:r>
              <a:rPr lang="en-GB" b="0" i="1">
                <a:solidFill>
                  <a:schemeClr val="accent2"/>
                </a:solidFill>
              </a:rPr>
              <a:t>                          </a:t>
            </a:r>
            <a:r>
              <a:rPr lang="en-GB" b="0" i="1" err="1">
                <a:solidFill>
                  <a:schemeClr val="accent2"/>
                </a:solidFill>
              </a:rPr>
              <a:t>datt</a:t>
            </a:r>
            <a:r>
              <a:rPr lang="en-GB" b="0" i="1">
                <a:solidFill>
                  <a:schemeClr val="accent2"/>
                </a:solidFill>
              </a:rPr>
              <a:t> </a:t>
            </a:r>
            <a:r>
              <a:rPr lang="en-GB" b="0" i="1" err="1">
                <a:solidFill>
                  <a:schemeClr val="accent2"/>
                </a:solidFill>
              </a:rPr>
              <a:t>si</a:t>
            </a:r>
            <a:r>
              <a:rPr lang="en-GB" b="0" i="1">
                <a:solidFill>
                  <a:schemeClr val="accent2"/>
                </a:solidFill>
              </a:rPr>
              <a:t> </a:t>
            </a:r>
            <a:r>
              <a:rPr lang="en-GB" b="0" i="1" err="1">
                <a:solidFill>
                  <a:schemeClr val="accent2"/>
                </a:solidFill>
              </a:rPr>
              <a:t>mengen</a:t>
            </a:r>
            <a:r>
              <a:rPr lang="en-GB" b="0" i="1">
                <a:solidFill>
                  <a:schemeClr val="accent2"/>
                </a:solidFill>
              </a:rPr>
              <a:t>, </a:t>
            </a:r>
            <a:r>
              <a:rPr lang="en-GB" b="0" i="1" err="1">
                <a:solidFill>
                  <a:schemeClr val="accent2"/>
                </a:solidFill>
              </a:rPr>
              <a:t>si</a:t>
            </a:r>
            <a:r>
              <a:rPr lang="en-GB" b="0" i="1">
                <a:solidFill>
                  <a:schemeClr val="accent2"/>
                </a:solidFill>
              </a:rPr>
              <a:t> </a:t>
            </a:r>
            <a:r>
              <a:rPr lang="en-GB" b="0" i="1" err="1">
                <a:solidFill>
                  <a:schemeClr val="accent2"/>
                </a:solidFill>
              </a:rPr>
              <a:t>hätten</a:t>
            </a:r>
            <a:r>
              <a:rPr lang="en-GB" b="0" i="1">
                <a:solidFill>
                  <a:schemeClr val="accent2"/>
                </a:solidFill>
              </a:rPr>
              <a:t> den </a:t>
            </a:r>
            <a:r>
              <a:rPr lang="en-GB" b="0" i="1" err="1">
                <a:solidFill>
                  <a:schemeClr val="accent2"/>
                </a:solidFill>
              </a:rPr>
              <a:t>Herrgott</a:t>
            </a:r>
            <a:r>
              <a:rPr lang="en-GB" b="0" i="1">
                <a:solidFill>
                  <a:schemeClr val="accent2"/>
                </a:solidFill>
              </a:rPr>
              <a:t> mat der </a:t>
            </a:r>
            <a:r>
              <a:rPr lang="en-GB" b="0" i="1" err="1">
                <a:solidFill>
                  <a:schemeClr val="accent2"/>
                </a:solidFill>
              </a:rPr>
              <a:t>décker</a:t>
            </a:r>
            <a:r>
              <a:rPr lang="en-GB" b="0" i="1">
                <a:solidFill>
                  <a:schemeClr val="accent2"/>
                </a:solidFill>
              </a:rPr>
              <a:t> ____.</a:t>
            </a:r>
            <a:r>
              <a:rPr lang="en-GB" b="0">
                <a:solidFill>
                  <a:schemeClr val="accent2"/>
                </a:solidFill>
              </a:rPr>
              <a:t>	</a:t>
            </a:r>
            <a:br>
              <a:rPr lang="en-GB" b="0"/>
            </a:br>
            <a:r>
              <a:rPr lang="en-GB" b="0">
                <a:solidFill>
                  <a:schemeClr val="accent2"/>
                </a:solidFill>
              </a:rPr>
              <a:t>	        A:   </a:t>
            </a:r>
            <a:r>
              <a:rPr lang="en-GB" b="0" i="1" err="1">
                <a:solidFill>
                  <a:schemeClr val="accent2"/>
                </a:solidFill>
              </a:rPr>
              <a:t>Zéif</a:t>
            </a:r>
            <a:r>
              <a:rPr lang="en-GB" b="0" i="1">
                <a:solidFill>
                  <a:schemeClr val="accent2"/>
                </a:solidFill>
              </a:rPr>
              <a:t>, </a:t>
            </a:r>
            <a:r>
              <a:rPr lang="en-GB" b="0" i="1" err="1">
                <a:solidFill>
                  <a:schemeClr val="accent2"/>
                </a:solidFill>
              </a:rPr>
              <a:t>Nues</a:t>
            </a:r>
            <a:r>
              <a:rPr lang="en-GB" b="0" i="1">
                <a:solidFill>
                  <a:schemeClr val="accent2"/>
                </a:solidFill>
              </a:rPr>
              <a:t>, Hand</a:t>
            </a:r>
            <a:endParaRPr lang="en-GB" b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accent2"/>
                </a:solidFill>
              </a:rPr>
              <a:t>Grammar: </a:t>
            </a:r>
            <a:r>
              <a:rPr lang="en-GB" b="0">
                <a:solidFill>
                  <a:schemeClr val="accent2"/>
                </a:solidFill>
              </a:rPr>
              <a:t>questions where possible answers are very similar, e.g. </a:t>
            </a:r>
            <a:r>
              <a:rPr lang="en-GB">
                <a:solidFill>
                  <a:schemeClr val="accent2"/>
                </a:solidFill>
              </a:rPr>
              <a:t>adjectives</a:t>
            </a:r>
            <a:r>
              <a:rPr lang="en-GB" b="0">
                <a:solidFill>
                  <a:schemeClr val="accent2"/>
                </a:solidFill>
              </a:rPr>
              <a:t>, </a:t>
            </a:r>
            <a:r>
              <a:rPr lang="en-GB">
                <a:solidFill>
                  <a:schemeClr val="accent2"/>
                </a:solidFill>
              </a:rPr>
              <a:t>cases</a:t>
            </a:r>
            <a:br>
              <a:rPr lang="en-GB"/>
            </a:br>
            <a:r>
              <a:rPr lang="en-GB">
                <a:solidFill>
                  <a:schemeClr val="accent2"/>
                </a:solidFill>
              </a:rPr>
              <a:t> </a:t>
            </a:r>
            <a:r>
              <a:rPr lang="en-GB" b="0">
                <a:solidFill>
                  <a:schemeClr val="accent2"/>
                </a:solidFill>
              </a:rPr>
              <a:t> Example:</a:t>
            </a:r>
            <a:r>
              <a:rPr lang="en-GB">
                <a:solidFill>
                  <a:schemeClr val="accent2"/>
                </a:solidFill>
              </a:rPr>
              <a:t> </a:t>
            </a:r>
            <a:r>
              <a:rPr lang="en-GB" b="0">
                <a:solidFill>
                  <a:schemeClr val="accent2"/>
                </a:solidFill>
              </a:rPr>
              <a:t>Q:   </a:t>
            </a:r>
            <a:r>
              <a:rPr lang="en-GB" b="0" i="1">
                <a:solidFill>
                  <a:schemeClr val="accent2"/>
                </a:solidFill>
              </a:rPr>
              <a:t>Op ___ </a:t>
            </a:r>
            <a:r>
              <a:rPr lang="en-GB" b="0" i="1" err="1">
                <a:solidFill>
                  <a:schemeClr val="accent2"/>
                </a:solidFill>
              </a:rPr>
              <a:t>Weiere</a:t>
            </a:r>
            <a:r>
              <a:rPr lang="en-GB" b="0" i="1">
                <a:solidFill>
                  <a:schemeClr val="accent2"/>
                </a:solidFill>
              </a:rPr>
              <a:t> </a:t>
            </a:r>
            <a:r>
              <a:rPr lang="en-GB" b="0" i="1" err="1">
                <a:solidFill>
                  <a:schemeClr val="accent2"/>
                </a:solidFill>
              </a:rPr>
              <a:t>kann</a:t>
            </a:r>
            <a:r>
              <a:rPr lang="en-GB" b="0" i="1">
                <a:solidFill>
                  <a:schemeClr val="accent2"/>
                </a:solidFill>
              </a:rPr>
              <a:t> </a:t>
            </a:r>
            <a:r>
              <a:rPr lang="en-GB" b="0" i="1" err="1">
                <a:solidFill>
                  <a:schemeClr val="accent2"/>
                </a:solidFill>
              </a:rPr>
              <a:t>een</a:t>
            </a:r>
            <a:r>
              <a:rPr lang="en-GB" b="0" i="1">
                <a:solidFill>
                  <a:schemeClr val="accent2"/>
                </a:solidFill>
              </a:rPr>
              <a:t> de </a:t>
            </a:r>
            <a:r>
              <a:rPr lang="en-GB" b="0" i="1" err="1">
                <a:solidFill>
                  <a:schemeClr val="accent2"/>
                </a:solidFill>
              </a:rPr>
              <a:t>Wanter</a:t>
            </a:r>
            <a:r>
              <a:rPr lang="en-GB" b="0" i="1">
                <a:solidFill>
                  <a:schemeClr val="accent2"/>
                </a:solidFill>
              </a:rPr>
              <a:t> </a:t>
            </a:r>
            <a:r>
              <a:rPr lang="en-GB" b="0" i="1" err="1">
                <a:solidFill>
                  <a:schemeClr val="accent2"/>
                </a:solidFill>
              </a:rPr>
              <a:t>Schlittschong</a:t>
            </a:r>
            <a:r>
              <a:rPr lang="en-GB" b="0" i="1">
                <a:solidFill>
                  <a:schemeClr val="accent2"/>
                </a:solidFill>
              </a:rPr>
              <a:t> </a:t>
            </a:r>
            <a:r>
              <a:rPr lang="en-GB" b="0" i="1" err="1">
                <a:solidFill>
                  <a:schemeClr val="accent2"/>
                </a:solidFill>
              </a:rPr>
              <a:t>fueren</a:t>
            </a:r>
            <a:r>
              <a:rPr lang="en-GB" b="0" i="1">
                <a:solidFill>
                  <a:schemeClr val="accent2"/>
                </a:solidFill>
              </a:rPr>
              <a:t>.</a:t>
            </a:r>
            <a:br>
              <a:rPr lang="en-GB" b="0" i="1"/>
            </a:br>
            <a:r>
              <a:rPr lang="en-GB" b="0" i="1">
                <a:solidFill>
                  <a:schemeClr val="accent2"/>
                </a:solidFill>
              </a:rPr>
              <a:t>                  </a:t>
            </a:r>
            <a:r>
              <a:rPr lang="en-GB" b="0">
                <a:solidFill>
                  <a:schemeClr val="accent2"/>
                </a:solidFill>
              </a:rPr>
              <a:t>A:  </a:t>
            </a:r>
            <a:r>
              <a:rPr lang="en-GB" b="0" i="1">
                <a:solidFill>
                  <a:schemeClr val="accent2"/>
                </a:solidFill>
              </a:rPr>
              <a:t> </a:t>
            </a:r>
            <a:r>
              <a:rPr lang="en-GB" b="0" i="1" err="1">
                <a:solidFill>
                  <a:schemeClr val="accent2"/>
                </a:solidFill>
              </a:rPr>
              <a:t>zougefruer</a:t>
            </a:r>
            <a:r>
              <a:rPr lang="en-GB" b="0" i="1">
                <a:solidFill>
                  <a:schemeClr val="accent2"/>
                </a:solidFill>
              </a:rPr>
              <a:t>, </a:t>
            </a:r>
            <a:r>
              <a:rPr lang="en-GB" b="0" i="1" err="1">
                <a:solidFill>
                  <a:schemeClr val="accent2"/>
                </a:solidFill>
              </a:rPr>
              <a:t>zougefruerene</a:t>
            </a:r>
            <a:r>
              <a:rPr lang="en-GB" b="0" i="1">
                <a:solidFill>
                  <a:schemeClr val="accent2"/>
                </a:solidFill>
              </a:rPr>
              <a:t>, </a:t>
            </a:r>
            <a:r>
              <a:rPr lang="en-GB" b="0" i="1" err="1">
                <a:solidFill>
                  <a:schemeClr val="accent2"/>
                </a:solidFill>
              </a:rPr>
              <a:t>zougefruerenen</a:t>
            </a:r>
            <a:r>
              <a:rPr lang="en-GB" b="0" i="1">
                <a:solidFill>
                  <a:schemeClr val="accent2"/>
                </a:solidFill>
              </a:rPr>
              <a:t>, </a:t>
            </a:r>
            <a:r>
              <a:rPr lang="en-GB" b="0" i="1" err="1">
                <a:solidFill>
                  <a:schemeClr val="accent2"/>
                </a:solidFill>
              </a:rPr>
              <a:t>zougefréieren</a:t>
            </a:r>
            <a:endParaRPr lang="en-GB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accent2"/>
                </a:solidFill>
              </a:rPr>
              <a:t>Comprehension: </a:t>
            </a:r>
            <a:r>
              <a:rPr lang="en-GB" b="0">
                <a:solidFill>
                  <a:schemeClr val="accent2"/>
                </a:solidFill>
              </a:rPr>
              <a:t>questions requiring full understanding of a given text, i.e. </a:t>
            </a:r>
            <a:r>
              <a:rPr lang="en-GB">
                <a:solidFill>
                  <a:schemeClr val="accent2"/>
                </a:solidFill>
              </a:rPr>
              <a:t>complex</a:t>
            </a:r>
            <a:r>
              <a:rPr lang="en-GB" b="0">
                <a:solidFill>
                  <a:schemeClr val="accent2"/>
                </a:solidFill>
              </a:rPr>
              <a:t> texts</a:t>
            </a:r>
            <a:endParaRPr lang="en-GB" b="0">
              <a:solidFill>
                <a:schemeClr val="accent2"/>
              </a:solidFill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2814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B143F-5EF2-AA82-2C4A-E8E7A3A99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A29A6-72A2-792F-DBA5-BFA48955D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37992"/>
                </a:solidFill>
                <a:cs typeface="Arial"/>
              </a:rPr>
              <a:t>Can an </a:t>
            </a:r>
            <a:r>
              <a:rPr lang="en-US" dirty="0" err="1">
                <a:solidFill>
                  <a:srgbClr val="537992"/>
                </a:solidFill>
                <a:cs typeface="Arial"/>
              </a:rPr>
              <a:t>llm</a:t>
            </a:r>
            <a:r>
              <a:rPr lang="en-US" dirty="0">
                <a:solidFill>
                  <a:srgbClr val="537992"/>
                </a:solidFill>
                <a:cs typeface="Arial"/>
              </a:rPr>
              <a:t> pass the national language exam for Luxembourgish?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D891E-682C-A19D-8F27-27F78DB50AE8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GB" dirty="0"/>
              <a:t>What did we learn?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56CCBA-D927-8B65-B6FD-B035C3A236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37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7A88FF-35BC-97C9-00F8-CA8A4E4583D8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solidFill>
                  <a:schemeClr val="accent2"/>
                </a:solidFill>
              </a:rPr>
              <a:t>Language models use numbers and maths to ‘learn’ human language</a:t>
            </a:r>
            <a:endParaRPr lang="en-GB" b="0" dirty="0">
              <a:solidFill>
                <a:schemeClr val="accent2"/>
              </a:solidFill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solidFill>
                  <a:schemeClr val="accent2"/>
                </a:solidFill>
                <a:ea typeface="+mn-lt"/>
                <a:cs typeface="+mn-lt"/>
              </a:rPr>
              <a:t>We need a lot of resources and data to not only train language models, but also test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solidFill>
                  <a:schemeClr val="accent2"/>
                </a:solidFill>
                <a:cs typeface="Arial"/>
              </a:rPr>
              <a:t>Language proficiency exams might be an insightful way to test LLMs</a:t>
            </a:r>
          </a:p>
          <a:p>
            <a:pPr>
              <a:buNone/>
            </a:pPr>
            <a:endParaRPr lang="en-GB" b="0" dirty="0">
              <a:solidFill>
                <a:schemeClr val="accent2"/>
              </a:solidFill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accent2"/>
              </a:solidFill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840382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E0519-F781-4822-1642-00FE3A3AD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55856-8E9E-76C8-5AB1-6E9B150A1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624965"/>
            <a:ext cx="8424000" cy="417196"/>
          </a:xfrm>
        </p:spPr>
        <p:txBody>
          <a:bodyPr/>
          <a:lstStyle/>
          <a:p>
            <a:r>
              <a:rPr lang="en-US" dirty="0">
                <a:solidFill>
                  <a:srgbClr val="537992"/>
                </a:solidFill>
                <a:cs typeface="Arial"/>
              </a:rPr>
              <a:t>Can an </a:t>
            </a:r>
            <a:r>
              <a:rPr lang="en-US" dirty="0" err="1">
                <a:solidFill>
                  <a:srgbClr val="537992"/>
                </a:solidFill>
                <a:cs typeface="Arial"/>
              </a:rPr>
              <a:t>llm</a:t>
            </a:r>
            <a:r>
              <a:rPr lang="en-US" dirty="0">
                <a:solidFill>
                  <a:srgbClr val="537992"/>
                </a:solidFill>
                <a:cs typeface="Arial"/>
              </a:rPr>
              <a:t> pass the national language exam for Luxembourgish?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778356-940C-FB92-925D-D9CBC9DD1D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38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667621-BDB3-6D3D-C899-081DB3D41E6C}"/>
              </a:ext>
            </a:extLst>
          </p:cNvPr>
          <p:cNvSpPr txBox="1"/>
          <p:nvPr/>
        </p:nvSpPr>
        <p:spPr>
          <a:xfrm>
            <a:off x="3467100" y="2511982"/>
            <a:ext cx="1524000" cy="7386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4800" dirty="0">
                <a:solidFill>
                  <a:schemeClr val="tx2"/>
                </a:solidFill>
                <a:latin typeface="+mn-lt"/>
              </a:rPr>
              <a:t>Yes!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3076872-B264-ADBD-A9BB-8899B958A1E3}"/>
              </a:ext>
            </a:extLst>
          </p:cNvPr>
          <p:cNvSpPr txBox="1">
            <a:spLocks/>
          </p:cNvSpPr>
          <p:nvPr/>
        </p:nvSpPr>
        <p:spPr>
          <a:xfrm>
            <a:off x="360000" y="1624965"/>
            <a:ext cx="8424000" cy="4171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800" b="0" i="0" kern="1200">
                <a:solidFill>
                  <a:schemeClr val="tx2"/>
                </a:solidFill>
                <a:latin typeface="Bebas Neue" charset="0"/>
                <a:ea typeface="Bebas Neue" charset="0"/>
                <a:cs typeface="Bebas Neue" charset="0"/>
              </a:defRPr>
            </a:lvl1pPr>
          </a:lstStyle>
          <a:p>
            <a:r>
              <a:rPr lang="en-US" dirty="0">
                <a:solidFill>
                  <a:srgbClr val="537992"/>
                </a:solidFill>
                <a:cs typeface="Arial"/>
              </a:rPr>
              <a:t>Can an </a:t>
            </a:r>
            <a:r>
              <a:rPr lang="en-US" dirty="0" err="1">
                <a:solidFill>
                  <a:srgbClr val="537992"/>
                </a:solidFill>
                <a:cs typeface="Arial"/>
              </a:rPr>
              <a:t>llm</a:t>
            </a:r>
            <a:r>
              <a:rPr lang="en-US" dirty="0">
                <a:solidFill>
                  <a:srgbClr val="537992"/>
                </a:solidFill>
                <a:cs typeface="Arial"/>
              </a:rPr>
              <a:t> become a citizen of Luxembourg?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2D41C4-2ED2-72DB-A270-1496CCF875BA}"/>
              </a:ext>
            </a:extLst>
          </p:cNvPr>
          <p:cNvSpPr txBox="1"/>
          <p:nvPr/>
        </p:nvSpPr>
        <p:spPr>
          <a:xfrm>
            <a:off x="3467100" y="2511982"/>
            <a:ext cx="1524000" cy="73866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sz="4800" dirty="0">
                <a:solidFill>
                  <a:schemeClr val="tx2"/>
                </a:solidFill>
              </a:rPr>
              <a:t>No…</a:t>
            </a:r>
            <a:endParaRPr lang="en-US" sz="48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93713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8" grpId="1"/>
      <p:bldP spid="9" grpId="0"/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17EDB-EB21-F4BB-249A-48183089A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Bebas Neue"/>
              </a:rPr>
              <a:t>Apertus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95BD0-F2F9-D979-92CA-F3D63DCE52CD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A first test: 8B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1A14E1-CFAB-F2FC-D74B-5160ED6FA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0743E6-EEAB-CE8E-21F5-0880479105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39</a:t>
            </a:fld>
            <a:endParaRPr lang="en-GB"/>
          </a:p>
        </p:txBody>
      </p:sp>
      <p:pic>
        <p:nvPicPr>
          <p:cNvPr id="7" name="Content Placeholder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81E00C2-90E9-409E-B2C8-2F1193A04CB1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773624" y="1410891"/>
            <a:ext cx="7596751" cy="30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0418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190C4D-504D-AA37-C96C-D1BFFDAD5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EBB25-A861-E187-6A27-4F3B01E25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Bebas Neue"/>
              </a:rPr>
              <a:t>Apertus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E91F4-A6BC-D850-D1C1-43A713B838F2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A first test: 70B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7FB72A-10D9-0726-977B-893EC1D6A3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7F91DF-8642-D3F3-5726-136F42713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4669F32-90E1-ED4F-B6D9-07697D6A4E9E}" type="slidenum">
              <a:rPr lang="en-GB" smtClean="0"/>
              <a:pPr/>
              <a:t>40</a:t>
            </a:fld>
            <a:endParaRPr lang="en-GB"/>
          </a:p>
        </p:txBody>
      </p:sp>
      <p:pic>
        <p:nvPicPr>
          <p:cNvPr id="9" name="Content Placeholder 8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8C1CE6AE-38DA-B9B6-0363-C6AD535CEC39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603011" y="1410891"/>
            <a:ext cx="7937978" cy="30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0869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/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Contact</a:t>
            </a:r>
            <a:endParaRPr lang="en-US" sz="1600" dirty="0">
              <a:solidFill>
                <a:srgbClr val="537992"/>
              </a:solidFill>
            </a:endParaRPr>
          </a:p>
          <a:p>
            <a:br>
              <a:rPr lang="en-US" dirty="0"/>
            </a:br>
            <a:r>
              <a:rPr lang="en-US" sz="1600" dirty="0">
                <a:solidFill>
                  <a:schemeClr val="tx2"/>
                </a:solidFill>
                <a:latin typeface="Segoe UI"/>
                <a:cs typeface="Segoe UI"/>
              </a:rPr>
              <a:t>Cédric LOTHRITZ</a:t>
            </a:r>
            <a:endParaRPr lang="en-US" sz="1600" dirty="0">
              <a:solidFill>
                <a:schemeClr val="tx2"/>
              </a:solidFill>
              <a:cs typeface="Arial"/>
            </a:endParaRPr>
          </a:p>
          <a:p>
            <a:pPr lvl="1"/>
            <a:r>
              <a:rPr lang="en-US" b="0" dirty="0">
                <a:ea typeface="+mj-lt"/>
                <a:cs typeface="+mj-lt"/>
                <a:hlinkClick r:id="rId2"/>
              </a:rPr>
              <a:t>cedric.lothritz@list.lu</a:t>
            </a:r>
          </a:p>
        </p:txBody>
      </p:sp>
    </p:spTree>
    <p:extLst>
      <p:ext uri="{BB962C8B-B14F-4D97-AF65-F5344CB8AC3E}">
        <p14:creationId xmlns:p14="http://schemas.microsoft.com/office/powerpoint/2010/main" val="1638046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3.8|5.3"/>
</p:tagLst>
</file>

<file path=ppt/theme/theme1.xml><?xml version="1.0" encoding="utf-8"?>
<a:theme xmlns:a="http://schemas.openxmlformats.org/drawingml/2006/main" name="LIST 2019_Multiple Slide Types Template">
  <a:themeElements>
    <a:clrScheme name="2019_LIST_Corporate_ColorTheme_CMYK">
      <a:dk1>
        <a:srgbClr val="141313"/>
      </a:dk1>
      <a:lt1>
        <a:srgbClr val="FFFFFF"/>
      </a:lt1>
      <a:dk2>
        <a:srgbClr val="537992"/>
      </a:dk2>
      <a:lt2>
        <a:srgbClr val="DFF1F0"/>
      </a:lt2>
      <a:accent1>
        <a:srgbClr val="00AEBC"/>
      </a:accent1>
      <a:accent2>
        <a:srgbClr val="2A6D81"/>
      </a:accent2>
      <a:accent3>
        <a:srgbClr val="A2C7C4"/>
      </a:accent3>
      <a:accent4>
        <a:srgbClr val="BDD8D6"/>
      </a:accent4>
      <a:accent5>
        <a:srgbClr val="AFAFAF"/>
      </a:accent5>
      <a:accent6>
        <a:srgbClr val="E50051"/>
      </a:accent6>
      <a:hlink>
        <a:srgbClr val="00AFC8"/>
      </a:hlink>
      <a:folHlink>
        <a:srgbClr val="9696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pattFill prst="dkUpDiag">
          <a:fgClr>
            <a:schemeClr val="bg2">
              <a:lumMod val="50000"/>
            </a:schemeClr>
          </a:fgClr>
          <a:bgClr>
            <a:schemeClr val="bg2">
              <a:lumMod val="65000"/>
            </a:schemeClr>
          </a:bgClr>
        </a:pattFill>
        <a:ln>
          <a:noFill/>
        </a:ln>
      </a:spPr>
      <a:bodyPr wrap="none" lIns="228600" tIns="228600" rIns="228600" bIns="228600" rtlCol="0" anchor="ctr">
        <a:noAutofit/>
      </a:bodyPr>
      <a:lstStyle>
        <a:defPPr algn="ctr">
          <a:defRPr sz="1400" dirty="0" smtClean="0">
            <a:solidFill>
              <a:schemeClr val="bg1"/>
            </a:solidFill>
            <a:latin typeface="Franklin Gothic Demi Cond" panose="020B07060304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b">
        <a:spAutoFit/>
      </a:bodyPr>
      <a:lstStyle>
        <a:defPPr algn="l">
          <a:defRPr sz="800" smtClean="0">
            <a:solidFill>
              <a:schemeClr val="tx2">
                <a:lumMod val="60000"/>
                <a:lumOff val="4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019_LIST_Template_16_9_MultipleSlideTypes_v05.pptx" id="{04496FC2-12B3-2B48-B818-D1D204ED8F33}" vid="{03634C40-C20C-9344-83C6-177756EBC0C1}"/>
    </a:ext>
  </a:extLst>
</a:theme>
</file>

<file path=ppt/theme/theme2.xml><?xml version="1.0" encoding="utf-8"?>
<a:theme xmlns:a="http://schemas.openxmlformats.org/drawingml/2006/main" name="Office Theme">
  <a:themeElements>
    <a:clrScheme name="Sophisticated Business">
      <a:dk1>
        <a:sysClr val="windowText" lastClr="000000"/>
      </a:dk1>
      <a:lt1>
        <a:sysClr val="window" lastClr="FFFFFF"/>
      </a:lt1>
      <a:dk2>
        <a:srgbClr val="897C57"/>
      </a:dk2>
      <a:lt2>
        <a:srgbClr val="FFFFFF"/>
      </a:lt2>
      <a:accent1>
        <a:srgbClr val="3C8689"/>
      </a:accent1>
      <a:accent2>
        <a:srgbClr val="E2BA41"/>
      </a:accent2>
      <a:accent3>
        <a:srgbClr val="C8904D"/>
      </a:accent3>
      <a:accent4>
        <a:srgbClr val="66AF9E"/>
      </a:accent4>
      <a:accent5>
        <a:srgbClr val="897C57"/>
      </a:accent5>
      <a:accent6>
        <a:srgbClr val="AF9D66"/>
      </a:accent6>
      <a:hlink>
        <a:srgbClr val="3C8689"/>
      </a:hlink>
      <a:folHlink>
        <a:srgbClr val="897C57"/>
      </a:folHlink>
    </a:clrScheme>
    <a:fontScheme name="Sophisticated Business">
      <a:majorFont>
        <a:latin typeface="Franklin Gothic Book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ophisticated Business">
      <a:dk1>
        <a:sysClr val="windowText" lastClr="000000"/>
      </a:dk1>
      <a:lt1>
        <a:sysClr val="window" lastClr="FFFFFF"/>
      </a:lt1>
      <a:dk2>
        <a:srgbClr val="897C57"/>
      </a:dk2>
      <a:lt2>
        <a:srgbClr val="FFFFFF"/>
      </a:lt2>
      <a:accent1>
        <a:srgbClr val="3C8689"/>
      </a:accent1>
      <a:accent2>
        <a:srgbClr val="E2BA41"/>
      </a:accent2>
      <a:accent3>
        <a:srgbClr val="C8904D"/>
      </a:accent3>
      <a:accent4>
        <a:srgbClr val="66AF9E"/>
      </a:accent4>
      <a:accent5>
        <a:srgbClr val="897C57"/>
      </a:accent5>
      <a:accent6>
        <a:srgbClr val="AF9D66"/>
      </a:accent6>
      <a:hlink>
        <a:srgbClr val="3C8689"/>
      </a:hlink>
      <a:folHlink>
        <a:srgbClr val="897C57"/>
      </a:folHlink>
    </a:clrScheme>
    <a:fontScheme name="Sophisticated Business">
      <a:majorFont>
        <a:latin typeface="Franklin Gothic Book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2019_LIST_Template_16_9_MultipleSlideTypes_v05</Template>
  <TotalTime>0</TotalTime>
  <Words>1775</Words>
  <Application>Microsoft Office PowerPoint</Application>
  <PresentationFormat>On-screen Show (16:9)</PresentationFormat>
  <Paragraphs>389</Paragraphs>
  <Slides>41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3" baseType="lpstr">
      <vt:lpstr>Arial</vt:lpstr>
      <vt:lpstr>Bebas Neue</vt:lpstr>
      <vt:lpstr>Calibri</vt:lpstr>
      <vt:lpstr>Cambria Math</vt:lpstr>
      <vt:lpstr>Cascadia Mono</vt:lpstr>
      <vt:lpstr>Courier New</vt:lpstr>
      <vt:lpstr>Franklin Gothic Book</vt:lpstr>
      <vt:lpstr>Franklin Gothic Demi Cond</vt:lpstr>
      <vt:lpstr>Miriam Fixed</vt:lpstr>
      <vt:lpstr>Segoe UI</vt:lpstr>
      <vt:lpstr>Wingdings</vt:lpstr>
      <vt:lpstr>LIST 2019_Multiple Slide Types Template</vt:lpstr>
      <vt:lpstr>Can ai pass the sproochentest?</vt:lpstr>
      <vt:lpstr>Topic of the Talk</vt:lpstr>
      <vt:lpstr>Quick animal pop quiz!</vt:lpstr>
      <vt:lpstr>Quick animal pop quiz!</vt:lpstr>
      <vt:lpstr>Quick animal pop quiz!</vt:lpstr>
      <vt:lpstr>Quick animal pop quiz!</vt:lpstr>
      <vt:lpstr>Quick animal pop quiz!</vt:lpstr>
      <vt:lpstr>Klengen DéiereQuiz</vt:lpstr>
      <vt:lpstr>Quick animal pop quiz!</vt:lpstr>
      <vt:lpstr>How can we represent words?</vt:lpstr>
      <vt:lpstr>How can we represent words?</vt:lpstr>
      <vt:lpstr>How can we represent words?</vt:lpstr>
      <vt:lpstr>How can we represent words?</vt:lpstr>
      <vt:lpstr>How can we represent words?</vt:lpstr>
      <vt:lpstr>How can we represent words?</vt:lpstr>
      <vt:lpstr>How can we represent words?</vt:lpstr>
      <vt:lpstr>How can we represent words?</vt:lpstr>
      <vt:lpstr>How can we represent words?</vt:lpstr>
      <vt:lpstr>How can we represent words?</vt:lpstr>
      <vt:lpstr>How can we represent words?</vt:lpstr>
      <vt:lpstr>How can we represent words?</vt:lpstr>
      <vt:lpstr>How do we know if a Computer has mastered the language?</vt:lpstr>
      <vt:lpstr>How do we know if a Computer has mastered the language?</vt:lpstr>
      <vt:lpstr>How do we know if a Computer has mastered the language?</vt:lpstr>
      <vt:lpstr>How do we know if a Computer has mastered the language?</vt:lpstr>
      <vt:lpstr>How do we know if a Computer has mastered the language?</vt:lpstr>
      <vt:lpstr>Can an llm pass the national language exam for Luxembourgish?</vt:lpstr>
      <vt:lpstr>Can an llm pass the national language exam for Luxembourgish?</vt:lpstr>
      <vt:lpstr>Can an llm pass the national language exam for Luxembourgish?</vt:lpstr>
      <vt:lpstr>Can an llm pass the national language exam for Luxembourgish?</vt:lpstr>
      <vt:lpstr>Can an llm pass the national language exam for Luxembourgish?</vt:lpstr>
      <vt:lpstr>Can an llm pass the national language exam for Luxembourgish?</vt:lpstr>
      <vt:lpstr>Can an llm pass the national language exam for Luxembourgish?</vt:lpstr>
      <vt:lpstr>Can an llm pass the national language exam for Luxembourgish?</vt:lpstr>
      <vt:lpstr>Can an llm pass the national language exam for Luxembourgish?</vt:lpstr>
      <vt:lpstr>Can an llm pass the national language exam for Luxembourgish?</vt:lpstr>
      <vt:lpstr>Can an llm pass the national language exam for Luxembourgish?</vt:lpstr>
      <vt:lpstr>Can an llm pass the national language exam for Luxembourgish?</vt:lpstr>
      <vt:lpstr>Apertus</vt:lpstr>
      <vt:lpstr>Apertus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page example</dc:title>
  <dc:creator>Microsoft Office User</dc:creator>
  <cp:lastModifiedBy>Cédric LOTHRITZ</cp:lastModifiedBy>
  <cp:revision>79</cp:revision>
  <dcterms:created xsi:type="dcterms:W3CDTF">2020-03-24T08:31:33Z</dcterms:created>
  <dcterms:modified xsi:type="dcterms:W3CDTF">2025-12-13T13:12:34Z</dcterms:modified>
</cp:coreProperties>
</file>